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57" r:id="rId3"/>
    <p:sldId id="1111" r:id="rId4"/>
    <p:sldId id="1114" r:id="rId5"/>
    <p:sldId id="1110" r:id="rId6"/>
    <p:sldId id="1115" r:id="rId7"/>
    <p:sldId id="794" r:id="rId8"/>
  </p:sldIdLst>
  <p:sldSz cx="12192000" cy="6858000"/>
  <p:notesSz cx="6742113" cy="9875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98DD119-5824-4B30-B349-6B5AF2738B7A}">
          <p14:sldIdLst>
            <p14:sldId id="257"/>
            <p14:sldId id="1111"/>
            <p14:sldId id="1114"/>
            <p14:sldId id="1110"/>
            <p14:sldId id="1115"/>
            <p14:sldId id="7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CABC1"/>
    <a:srgbClr val="828282"/>
    <a:srgbClr val="5B9BD5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59" autoAdjust="0"/>
    <p:restoredTop sz="96412" autoAdjust="0"/>
  </p:normalViewPr>
  <p:slideViewPr>
    <p:cSldViewPr snapToGrid="0" showGuides="1">
      <p:cViewPr varScale="1">
        <p:scale>
          <a:sx n="79" d="100"/>
          <a:sy n="79" d="100"/>
        </p:scale>
        <p:origin x="619" y="72"/>
      </p:cViewPr>
      <p:guideLst>
        <p:guide orient="horz" pos="231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21582" cy="495507"/>
          </a:xfrm>
          <a:prstGeom prst="rect">
            <a:avLst/>
          </a:prstGeom>
        </p:spPr>
        <p:txBody>
          <a:bodyPr vert="horz" lIns="90846" tIns="45423" rIns="90846" bIns="454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8971" y="1"/>
            <a:ext cx="2921582" cy="495507"/>
          </a:xfrm>
          <a:prstGeom prst="rect">
            <a:avLst/>
          </a:prstGeom>
        </p:spPr>
        <p:txBody>
          <a:bodyPr vert="horz" lIns="90846" tIns="45423" rIns="90846" bIns="45423" rtlCol="0"/>
          <a:lstStyle>
            <a:lvl1pPr algn="r">
              <a:defRPr sz="1200"/>
            </a:lvl1pPr>
          </a:lstStyle>
          <a:p>
            <a:fld id="{A1967820-1C2E-42FF-BE81-34D58CF838C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80333"/>
            <a:ext cx="2921582" cy="495506"/>
          </a:xfrm>
          <a:prstGeom prst="rect">
            <a:avLst/>
          </a:prstGeom>
        </p:spPr>
        <p:txBody>
          <a:bodyPr vert="horz" lIns="90846" tIns="45423" rIns="90846" bIns="454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</p:spPr>
        <p:txBody>
          <a:bodyPr vert="horz" lIns="90846" tIns="45423" rIns="90846" bIns="45423" rtlCol="0" anchor="b"/>
          <a:lstStyle>
            <a:lvl1pPr algn="r">
              <a:defRPr sz="1200"/>
            </a:lvl1pPr>
          </a:lstStyle>
          <a:p>
            <a:fld id="{82B12A62-734B-4A26-8520-080A56031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21582" cy="495507"/>
          </a:xfrm>
          <a:prstGeom prst="rect">
            <a:avLst/>
          </a:prstGeom>
        </p:spPr>
        <p:txBody>
          <a:bodyPr vert="horz" lIns="90846" tIns="45423" rIns="90846" bIns="454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8971" y="1"/>
            <a:ext cx="2921582" cy="495507"/>
          </a:xfrm>
          <a:prstGeom prst="rect">
            <a:avLst/>
          </a:prstGeom>
        </p:spPr>
        <p:txBody>
          <a:bodyPr vert="horz" lIns="90846" tIns="45423" rIns="90846" bIns="45423" rtlCol="0"/>
          <a:lstStyle>
            <a:lvl1pPr algn="r">
              <a:defRPr sz="1200"/>
            </a:lvl1pPr>
          </a:lstStyle>
          <a:p>
            <a:fld id="{0F48B74D-11C0-4F7A-91F5-B29A90CCD9A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26137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6" tIns="45423" rIns="90846" bIns="454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212" y="4752748"/>
            <a:ext cx="5393690" cy="3888612"/>
          </a:xfrm>
          <a:prstGeom prst="rect">
            <a:avLst/>
          </a:prstGeom>
        </p:spPr>
        <p:txBody>
          <a:bodyPr vert="horz" lIns="90846" tIns="45423" rIns="90846" bIns="454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80333"/>
            <a:ext cx="2921582" cy="495506"/>
          </a:xfrm>
          <a:prstGeom prst="rect">
            <a:avLst/>
          </a:prstGeom>
        </p:spPr>
        <p:txBody>
          <a:bodyPr vert="horz" lIns="90846" tIns="45423" rIns="90846" bIns="454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8971" y="9380333"/>
            <a:ext cx="2921582" cy="495506"/>
          </a:xfrm>
          <a:prstGeom prst="rect">
            <a:avLst/>
          </a:prstGeom>
        </p:spPr>
        <p:txBody>
          <a:bodyPr vert="horz" lIns="90846" tIns="45423" rIns="90846" bIns="45423" rtlCol="0" anchor="b"/>
          <a:lstStyle>
            <a:lvl1pPr algn="r">
              <a:defRPr sz="1200"/>
            </a:lvl1pPr>
          </a:lstStyle>
          <a:p>
            <a:fld id="{54172C7F-4503-44C6-8C2F-BF9B4A2663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88D56-A487-4F77-B23A-6A5BCDE78DD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4D299-2F9D-ED35-1D65-FBA95FE8B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A9184-9F7E-B279-43E2-9BC931D5D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76A33-47B9-F7F9-B10C-05306A27D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738D-8FD6-DBC1-27DB-13C515F6F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88D56-A487-4F77-B23A-6A5BCDE78D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30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12F90-EC57-197C-6019-78CABC78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4D274-D0C8-75D0-ABA9-EBE6F616D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CCE4B-7CF9-C624-B07A-508C6EF98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34D8D-6926-4EF5-F85E-6400355B3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88D56-A487-4F77-B23A-6A5BCDE78D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0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88D56-A487-4F77-B23A-6A5BCDE78D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59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4BAF-C729-7197-2776-5ACDFD85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B278C-8B2C-068D-2801-978EF0CBF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3DE18-3B35-2547-69ED-09722C94F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14755-58FA-545B-2EE5-2581ACCD4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F88D56-A487-4F77-B23A-6A5BCDE78D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04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分类：</a:t>
            </a:r>
            <a:r>
              <a:rPr lang="en-US" altLang="zh-CN" dirty="0"/>
              <a:t>statistical</a:t>
            </a:r>
            <a:r>
              <a:rPr lang="en-US" altLang="zh-CN" baseline="0" dirty="0"/>
              <a:t>, ML, algorithm</a:t>
            </a:r>
          </a:p>
          <a:p>
            <a:r>
              <a:rPr lang="en-US" altLang="zh-CN" baseline="0" dirty="0"/>
              <a:t>statistical = local; global</a:t>
            </a:r>
          </a:p>
          <a:p>
            <a:r>
              <a:rPr lang="en-US" altLang="zh-CN" baseline="0" dirty="0"/>
              <a:t>ML = data-driven; DQL</a:t>
            </a:r>
          </a:p>
          <a:p>
            <a:r>
              <a:rPr lang="en-US" altLang="zh-CN" baseline="0" dirty="0"/>
              <a:t>algorithm = heuristic algorithm (local), </a:t>
            </a:r>
            <a:endParaRPr lang="en-GB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172C7F-4503-44C6-8C2F-BF9B4A2663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7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U_Logo_CMYK.eps">
            <a:extLst>
              <a:ext uri="{FF2B5EF4-FFF2-40B4-BE49-F238E27FC236}">
                <a16:creationId xmlns:a16="http://schemas.microsoft.com/office/drawing/2014/main" id="{A65EB717-EE43-169F-3BC0-C4B57267B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17" y="714375"/>
            <a:ext cx="6993467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0800" y="3946390"/>
            <a:ext cx="9550400" cy="646331"/>
          </a:xfrm>
          <a:prstGeom prst="rect">
            <a:avLst/>
          </a:prstGeom>
        </p:spPr>
        <p:txBody>
          <a:bodyPr/>
          <a:lstStyle>
            <a:lvl1pPr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38658"/>
            <a:ext cx="8534400" cy="13212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60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>
          <a:xfrm>
            <a:off x="304802" y="1356541"/>
            <a:ext cx="11518900" cy="365971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SzPct val="150000"/>
              <a:buFont typeface="Wingdings" pitchFamily="2" charset="2"/>
              <a:buChar char="§"/>
              <a:defRPr sz="2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§"/>
              <a:defRPr sz="2000">
                <a:latin typeface="Tahoma" pitchFamily="34" charset="0"/>
                <a:ea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52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B36A237-6528-3D7B-E04B-5EFAD8E4F8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70D4FD4-61BE-2353-7E4C-F210F46807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fld id="{A4EF00AE-5A9E-4C41-BE30-53ACEEBC2E3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FDC1FC1-A392-308B-B172-B7A411266B4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01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1665B-42F4-46D5-92B1-FFCDFEFBE01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4">
            <a:extLst>
              <a:ext uri="{FF2B5EF4-FFF2-40B4-BE49-F238E27FC236}">
                <a16:creationId xmlns:a16="http://schemas.microsoft.com/office/drawing/2014/main" id="{0F1682A7-2F0E-2AB6-E35F-355CBC9308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1" y="82551"/>
            <a:ext cx="11518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D06401-0A0A-754C-800E-0D18D92B4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1" y="6362701"/>
            <a:ext cx="4821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0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1BCE9B-9A5A-F645-9336-0C91F22F922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4801" y="677863"/>
            <a:ext cx="11518900" cy="0"/>
          </a:xfrm>
          <a:prstGeom prst="line">
            <a:avLst/>
          </a:prstGeom>
          <a:noFill/>
          <a:ln w="25400">
            <a:solidFill>
              <a:srgbClr val="680B1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8703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9D1023"/>
          </a:solidFill>
          <a:latin typeface="Arial"/>
          <a:ea typeface="ＭＳ Ｐゴシック" charset="-128"/>
          <a:cs typeface="Arial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D1023"/>
          </a:solidFill>
          <a:latin typeface="Arial" charset="0"/>
          <a:ea typeface="ＭＳ Ｐゴシック" charset="-128"/>
          <a:cs typeface="Arial" panose="020B0604020202020204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fawad.khan@giki.edu.p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 flipV="1">
            <a:off x="0" y="5131985"/>
            <a:ext cx="12192000" cy="68581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5" y="1"/>
                </a:lnTo>
              </a:path>
            </a:pathLst>
          </a:custGeom>
          <a:ln w="317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 flipV="1">
            <a:off x="0" y="1264602"/>
            <a:ext cx="12192000" cy="68581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5" y="1"/>
                </a:lnTo>
              </a:path>
            </a:pathLst>
          </a:custGeom>
          <a:ln w="317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6994" y="2920257"/>
            <a:ext cx="11078012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GB" altLang="zh-CN" sz="4800" b="1" spc="-5" dirty="0">
                <a:latin typeface="Times New Roman" panose="02020603050405020304"/>
                <a:cs typeface="Times New Roman" panose="02020603050405020304"/>
              </a:rPr>
              <a:t>Wireless and Mobile Security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36830" y="308367"/>
            <a:ext cx="8379162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b="1" spc="-5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Faculty </a:t>
            </a:r>
            <a:r>
              <a:rPr sz="3200" b="1" spc="-5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3200" b="1" spc="-5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Science and</a:t>
            </a:r>
            <a:r>
              <a:rPr sz="3200" b="1" spc="-30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200" b="1" spc="-5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Engineering</a:t>
            </a:r>
            <a:endParaRPr lang="en-US" sz="3200" b="1" spc="-5" dirty="0">
              <a:solidFill>
                <a:srgbClr val="CC33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spcBef>
                <a:spcPts val="100"/>
              </a:spcBef>
            </a:pPr>
            <a:r>
              <a:rPr lang="en-US" sz="3200" b="1" spc="-5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 of Cyber Security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2514600" y="5272183"/>
            <a:ext cx="7162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/>
            <a:r>
              <a:rPr lang="en-US" altLang="zh-CN" sz="3200" dirty="0">
                <a:latin typeface="Times New Roman" panose="02020603050405020304"/>
                <a:cs typeface="Times New Roman" panose="02020603050405020304"/>
              </a:rPr>
              <a:t>Instructor: Dr. Muhammad Fawad Khan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F53EF-9A92-988C-2E28-3CA9EC75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2" descr="Page 98 – Ghulam Ishaq Khan Institute of Engineering ...">
            <a:extLst>
              <a:ext uri="{FF2B5EF4-FFF2-40B4-BE49-F238E27FC236}">
                <a16:creationId xmlns:a16="http://schemas.microsoft.com/office/drawing/2014/main" id="{38273B47-591E-07A7-B8C5-81931DA1B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88" y="100923"/>
            <a:ext cx="1195160" cy="119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CA294AD6-B456-FBD4-F309-2CC5006EDF3B}"/>
              </a:ext>
            </a:extLst>
          </p:cNvPr>
          <p:cNvSpPr txBox="1"/>
          <p:nvPr/>
        </p:nvSpPr>
        <p:spPr>
          <a:xfrm>
            <a:off x="4028872" y="3723567"/>
            <a:ext cx="388944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cs typeface="Times New Roman" panose="02020603050405020304"/>
              </a:rPr>
              <a:t>Course Code: CY3XX</a:t>
            </a:r>
            <a:endParaRPr sz="32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08CB1-688D-B52D-6AE6-A7967C5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FC6C457-2162-F70C-E671-A818A5F66643}"/>
              </a:ext>
            </a:extLst>
          </p:cNvPr>
          <p:cNvSpPr txBox="1"/>
          <p:nvPr/>
        </p:nvSpPr>
        <p:spPr>
          <a:xfrm>
            <a:off x="105266" y="1040277"/>
            <a:ext cx="11981468" cy="551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GB" altLang="zh-CN" sz="3200" dirty="0"/>
              <a:t> My Background: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zh-CN" sz="2800" dirty="0"/>
              <a:t> PhD in Computer Science from South Korea.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zh-CN" sz="2800" dirty="0"/>
              <a:t> 3 years of teaching experience before PhD.</a:t>
            </a:r>
          </a:p>
          <a:p>
            <a:pPr marL="514350" lvl="1" indent="-514350">
              <a:buFont typeface="Wingdings" panose="05000000000000000000" pitchFamily="2" charset="2"/>
              <a:buChar char="v"/>
            </a:pPr>
            <a:endParaRPr lang="en-GB" altLang="zh-CN" sz="3200" dirty="0"/>
          </a:p>
          <a:p>
            <a:pPr marL="514350" lvl="1" indent="-514350">
              <a:buFont typeface="Wingdings" panose="05000000000000000000" pitchFamily="2" charset="2"/>
              <a:buChar char="v"/>
            </a:pPr>
            <a:r>
              <a:rPr lang="en-GB" altLang="zh-CN" sz="3200" dirty="0"/>
              <a:t>Office: S-03, New Academic Block</a:t>
            </a:r>
          </a:p>
          <a:p>
            <a:pPr marL="514350" lvl="1" indent="-514350">
              <a:buFont typeface="Wingdings" panose="05000000000000000000" pitchFamily="2" charset="2"/>
              <a:buChar char="v"/>
            </a:pPr>
            <a:r>
              <a:rPr lang="en-GB" altLang="zh-CN" sz="3200" dirty="0"/>
              <a:t>Contact: </a:t>
            </a:r>
            <a:r>
              <a:rPr lang="en-GB" altLang="zh-CN" sz="3200" i="1" dirty="0">
                <a:hlinkClick r:id="rId3"/>
              </a:rPr>
              <a:t>fawad.khan@giki.edu.pk</a:t>
            </a:r>
            <a:r>
              <a:rPr lang="en-GB" altLang="zh-CN" sz="3200" i="1" dirty="0"/>
              <a:t> </a:t>
            </a:r>
          </a:p>
          <a:p>
            <a:pPr marL="457200" lvl="1" indent="0">
              <a:buNone/>
            </a:pPr>
            <a:endParaRPr lang="en-GB" altLang="zh-CN" sz="2800" dirty="0"/>
          </a:p>
        </p:txBody>
      </p:sp>
      <p:sp>
        <p:nvSpPr>
          <p:cNvPr id="3" name="AutoShape 2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>
            <a:extLst>
              <a:ext uri="{FF2B5EF4-FFF2-40B4-BE49-F238E27FC236}">
                <a16:creationId xmlns:a16="http://schemas.microsoft.com/office/drawing/2014/main" id="{C59F5A04-B0E8-D098-5B13-388E331A41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4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>
            <a:extLst>
              <a:ext uri="{FF2B5EF4-FFF2-40B4-BE49-F238E27FC236}">
                <a16:creationId xmlns:a16="http://schemas.microsoft.com/office/drawing/2014/main" id="{9C9F5D03-34DC-32E5-7A85-FD75E59329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" name="object 10">
            <a:extLst>
              <a:ext uri="{FF2B5EF4-FFF2-40B4-BE49-F238E27FC236}">
                <a16:creationId xmlns:a16="http://schemas.microsoft.com/office/drawing/2014/main" id="{34E41122-F437-A018-B385-FCE45D2E3B92}"/>
              </a:ext>
            </a:extLst>
          </p:cNvPr>
          <p:cNvSpPr/>
          <p:nvPr/>
        </p:nvSpPr>
        <p:spPr>
          <a:xfrm>
            <a:off x="-1" y="237033"/>
            <a:ext cx="3172409" cy="570865"/>
          </a:xfrm>
          <a:custGeom>
            <a:avLst/>
            <a:gdLst/>
            <a:ahLst/>
            <a:cxnLst/>
            <a:rect l="l" t="t" r="r" b="b"/>
            <a:pathLst>
              <a:path w="3143250" h="570865">
                <a:moveTo>
                  <a:pt x="3143250" y="0"/>
                </a:moveTo>
                <a:lnTo>
                  <a:pt x="0" y="0"/>
                </a:lnTo>
                <a:lnTo>
                  <a:pt x="0" y="570776"/>
                </a:lnTo>
                <a:lnTo>
                  <a:pt x="3143250" y="570776"/>
                </a:lnTo>
                <a:lnTo>
                  <a:pt x="3143250" y="0"/>
                </a:lnTo>
                <a:close/>
              </a:path>
            </a:pathLst>
          </a:custGeom>
          <a:solidFill>
            <a:srgbClr val="9BBB5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2EE12-B47D-6C07-60BB-ADCDE320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0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E7CA6-4804-9DC1-7166-18CEBDFD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B179D04-326D-5AC2-A25C-2B1A8FF77D0D}"/>
              </a:ext>
            </a:extLst>
          </p:cNvPr>
          <p:cNvSpPr txBox="1"/>
          <p:nvPr/>
        </p:nvSpPr>
        <p:spPr>
          <a:xfrm>
            <a:off x="105266" y="1040277"/>
            <a:ext cx="11981468" cy="551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zh-CN" sz="3200" dirty="0"/>
          </a:p>
        </p:txBody>
      </p:sp>
      <p:sp>
        <p:nvSpPr>
          <p:cNvPr id="3" name="AutoShape 2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>
            <a:extLst>
              <a:ext uri="{FF2B5EF4-FFF2-40B4-BE49-F238E27FC236}">
                <a16:creationId xmlns:a16="http://schemas.microsoft.com/office/drawing/2014/main" id="{B064CCC5-9910-93C2-F863-801F23BF59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4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>
            <a:extLst>
              <a:ext uri="{FF2B5EF4-FFF2-40B4-BE49-F238E27FC236}">
                <a16:creationId xmlns:a16="http://schemas.microsoft.com/office/drawing/2014/main" id="{E676172F-34BA-7F73-03EA-DB09F9BD0B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" name="object 10">
            <a:extLst>
              <a:ext uri="{FF2B5EF4-FFF2-40B4-BE49-F238E27FC236}">
                <a16:creationId xmlns:a16="http://schemas.microsoft.com/office/drawing/2014/main" id="{139FD3E7-AF32-A790-0DE6-B25CC19AB94F}"/>
              </a:ext>
            </a:extLst>
          </p:cNvPr>
          <p:cNvSpPr/>
          <p:nvPr/>
        </p:nvSpPr>
        <p:spPr>
          <a:xfrm>
            <a:off x="-1" y="237033"/>
            <a:ext cx="6235431" cy="570865"/>
          </a:xfrm>
          <a:custGeom>
            <a:avLst/>
            <a:gdLst/>
            <a:ahLst/>
            <a:cxnLst/>
            <a:rect l="l" t="t" r="r" b="b"/>
            <a:pathLst>
              <a:path w="3143250" h="570865">
                <a:moveTo>
                  <a:pt x="3143250" y="0"/>
                </a:moveTo>
                <a:lnTo>
                  <a:pt x="0" y="0"/>
                </a:lnTo>
                <a:lnTo>
                  <a:pt x="0" y="570776"/>
                </a:lnTo>
                <a:lnTo>
                  <a:pt x="3143250" y="570776"/>
                </a:lnTo>
                <a:lnTo>
                  <a:pt x="3143250" y="0"/>
                </a:lnTo>
                <a:close/>
              </a:path>
            </a:pathLst>
          </a:custGeom>
          <a:solidFill>
            <a:srgbClr val="9BBB5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Assessment/ Grading Policy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A4222-BC4D-8B59-128F-314A1E2E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64BCAA-11A2-173D-53B2-E1ABD9E58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07080"/>
              </p:ext>
            </p:extLst>
          </p:nvPr>
        </p:nvGraphicFramePr>
        <p:xfrm>
          <a:off x="460375" y="894614"/>
          <a:ext cx="10974421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3228">
                  <a:extLst>
                    <a:ext uri="{9D8B030D-6E8A-4147-A177-3AD203B41FA5}">
                      <a16:colId xmlns:a16="http://schemas.microsoft.com/office/drawing/2014/main" val="3713360267"/>
                    </a:ext>
                  </a:extLst>
                </a:gridCol>
                <a:gridCol w="4931193">
                  <a:extLst>
                    <a:ext uri="{9D8B030D-6E8A-4147-A177-3AD203B41FA5}">
                      <a16:colId xmlns:a16="http://schemas.microsoft.com/office/drawing/2014/main" val="625076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65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Quizzes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34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62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058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4972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74A25E-85BA-4AC9-4647-D368E07B9A6F}"/>
              </a:ext>
            </a:extLst>
          </p:cNvPr>
          <p:cNvSpPr txBox="1"/>
          <p:nvPr/>
        </p:nvSpPr>
        <p:spPr>
          <a:xfrm>
            <a:off x="159503" y="3151095"/>
            <a:ext cx="11872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According to institute policy, 80% attendance is mandatory to appear in the final examination.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4E254-6ED4-F693-B8D9-E3F3DECEF635}"/>
              </a:ext>
            </a:extLst>
          </p:cNvPr>
          <p:cNvSpPr txBox="1"/>
          <p:nvPr/>
        </p:nvSpPr>
        <p:spPr>
          <a:xfrm>
            <a:off x="213740" y="3778172"/>
            <a:ext cx="1187299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Textbooks: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Wireless and Mobile Device Security Second Edition by Jim Doherty,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Wireless Security: Models, Threats, and Solutions by Randall K. Nichols and Panos C. Lekkas, 2002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Wireless Network Security: A Beginner's Guide by Tyler Wrightson, 2012</a:t>
            </a:r>
          </a:p>
          <a:p>
            <a:endParaRPr lang="en-US" sz="2200" dirty="0"/>
          </a:p>
          <a:p>
            <a:r>
              <a:rPr lang="en-US" sz="2200" b="1" dirty="0"/>
              <a:t>Additional Reading Material: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Research papers</a:t>
            </a:r>
          </a:p>
        </p:txBody>
      </p:sp>
    </p:spTree>
    <p:extLst>
      <p:ext uri="{BB962C8B-B14F-4D97-AF65-F5344CB8AC3E}">
        <p14:creationId xmlns:p14="http://schemas.microsoft.com/office/powerpoint/2010/main" val="382417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/>
          <p:cNvSpPr txBox="1"/>
          <p:nvPr/>
        </p:nvSpPr>
        <p:spPr>
          <a:xfrm>
            <a:off x="105266" y="1040277"/>
            <a:ext cx="11981468" cy="551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v"/>
            </a:pPr>
            <a:endParaRPr lang="en-GB" altLang="zh-CN" sz="3200" dirty="0"/>
          </a:p>
        </p:txBody>
      </p:sp>
      <p:sp>
        <p:nvSpPr>
          <p:cNvPr id="3" name="AutoShape 2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4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" name="object 10"/>
          <p:cNvSpPr/>
          <p:nvPr/>
        </p:nvSpPr>
        <p:spPr>
          <a:xfrm>
            <a:off x="-1" y="237033"/>
            <a:ext cx="7451388" cy="570865"/>
          </a:xfrm>
          <a:custGeom>
            <a:avLst/>
            <a:gdLst/>
            <a:ahLst/>
            <a:cxnLst/>
            <a:rect l="l" t="t" r="r" b="b"/>
            <a:pathLst>
              <a:path w="3143250" h="570865">
                <a:moveTo>
                  <a:pt x="3143250" y="0"/>
                </a:moveTo>
                <a:lnTo>
                  <a:pt x="0" y="0"/>
                </a:lnTo>
                <a:lnTo>
                  <a:pt x="0" y="570776"/>
                </a:lnTo>
                <a:lnTo>
                  <a:pt x="3143250" y="570776"/>
                </a:lnTo>
                <a:lnTo>
                  <a:pt x="3143250" y="0"/>
                </a:lnTo>
                <a:close/>
              </a:path>
            </a:pathLst>
          </a:custGeom>
          <a:solidFill>
            <a:srgbClr val="9BBB5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Course Learning Outcomes (CLOs)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BA63B-96F5-969C-B9E7-3E64D6FB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57A12B-7983-1C7E-8D5B-FE268BD9C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993436"/>
              </p:ext>
            </p:extLst>
          </p:nvPr>
        </p:nvGraphicFramePr>
        <p:xfrm>
          <a:off x="155575" y="1274323"/>
          <a:ext cx="11371633" cy="38674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5277">
                  <a:extLst>
                    <a:ext uri="{9D8B030D-6E8A-4147-A177-3AD203B41FA5}">
                      <a16:colId xmlns:a16="http://schemas.microsoft.com/office/drawing/2014/main" val="3531239131"/>
                    </a:ext>
                  </a:extLst>
                </a:gridCol>
                <a:gridCol w="4760569">
                  <a:extLst>
                    <a:ext uri="{9D8B030D-6E8A-4147-A177-3AD203B41FA5}">
                      <a16:colId xmlns:a16="http://schemas.microsoft.com/office/drawing/2014/main" val="3111646604"/>
                    </a:ext>
                  </a:extLst>
                </a:gridCol>
                <a:gridCol w="2509736">
                  <a:extLst>
                    <a:ext uri="{9D8B030D-6E8A-4147-A177-3AD203B41FA5}">
                      <a16:colId xmlns:a16="http://schemas.microsoft.com/office/drawing/2014/main" val="3068116107"/>
                    </a:ext>
                  </a:extLst>
                </a:gridCol>
                <a:gridCol w="2996051">
                  <a:extLst>
                    <a:ext uri="{9D8B030D-6E8A-4147-A177-3AD203B41FA5}">
                      <a16:colId xmlns:a16="http://schemas.microsoft.com/office/drawing/2014/main" val="2665025236"/>
                    </a:ext>
                  </a:extLst>
                </a:gridCol>
              </a:tblGrid>
              <a:tr h="398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Learning Outcomes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Graduate Attributes (GAs)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Bloom’s Taxonomy level (Cognitive domain)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8919325"/>
                  </a:ext>
                </a:extLst>
              </a:tr>
              <a:tr h="11677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 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and explain the fundamental concepts, architecture, and security challenges of wireless and mobile communication systems.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GA-2 (Knowledge for Solving Computing Problems)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C2 (Understanding)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6183631"/>
                  </a:ext>
                </a:extLst>
              </a:tr>
              <a:tr h="11677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 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 security threats, vulnerabilities, and attack mechanisms in wireless and mobile networks including physical layer vulnerabilities.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GA-3 (Problem Analysis)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C4 (Analyzing)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1933711"/>
                  </a:ext>
                </a:extLst>
              </a:tr>
              <a:tr h="974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 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Apply/Propose appropriate security mechanisms and techniques, including protocol-based and physical-layer approaches, to protect wireless and mobile systems.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GA-4 (Design/ Development of Solutions)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C6 (Creating)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9984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18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4648-7344-D1F2-8E8A-9A9F09F9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112C83-A3B5-29F9-05F3-543307735D6D}"/>
              </a:ext>
            </a:extLst>
          </p:cNvPr>
          <p:cNvSpPr txBox="1"/>
          <p:nvPr/>
        </p:nvSpPr>
        <p:spPr>
          <a:xfrm>
            <a:off x="105266" y="1040277"/>
            <a:ext cx="11981468" cy="5514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v"/>
            </a:pPr>
            <a:endParaRPr lang="en-GB" altLang="zh-CN" sz="3200" dirty="0"/>
          </a:p>
        </p:txBody>
      </p:sp>
      <p:sp>
        <p:nvSpPr>
          <p:cNvPr id="3" name="AutoShape 2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>
            <a:extLst>
              <a:ext uri="{FF2B5EF4-FFF2-40B4-BE49-F238E27FC236}">
                <a16:creationId xmlns:a16="http://schemas.microsoft.com/office/drawing/2014/main" id="{3D23FA93-1381-2991-B87E-3F3F726853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4" descr="data:image/png;base64,iVBORw0KGgoAAAANSUhEUgAAAX0AAAD4CAYAAAAAczaOAAAABHNCSVQICAgIfAhkiAAAAAlwSFlzAAALEgAACxIB0t1+/AAAADh0RVh0U29mdHdhcmUAbWF0cGxvdGxpYiB2ZXJzaW9uMy4yLjIsIGh0dHA6Ly9tYXRwbG90bGliLm9yZy+WH4yJAAAgAElEQVR4nOy9e3Rc1Z3n+9mnSrJVgDAPg42RjJzpvgkhARNsApb8QDKru++sCel59Nw7AYyZSXc6SSehaRMbyZIR2CQOEDLMJCvT2CbpnsnM7Zue9Jrb9zaSbFnyCwyWITT06k5kbPkJBGMB5Yeqzr5//M6us8+pU6WnjbH2h1WrVOfss88pIf/2b/9+v/3dSmuNw+FwOCYH3kf9AA6Hw+E4dzij73A4HJMIZ/QdDodjEuGMvsPhcEwinNF3OByOSUT6o36Aclx55ZX6uuuu+6gfw+FwOD5WvPzyy+9oracnnTuvjf51113HSy+99FE/hsPhcHysUErtL3XOhXccDodjEuGMvsPhcEwinNF3OByOSYQz+g6HwzGJcEbf4XA4JhHDGn2l1Aal1FtKqdesY5crpTqUUv8UvF8WHFdKqR8opX6llHpVKXWzdc29Qft/Ukrde3a+jsPhcDjKMRJPfxPwO7Fj3wa6tNa/BXQFnwF+F/it4PVl4IcggwTQCtwKzAdazUDxsSKfh7Y2aGiQ93z+wrynw3GO8fM+3W3dbGjYQHdbN37e/6gf6YJl2Dp9rXWPUuq62OEvAIuDn58DuoGHguM/0aLXvEspNU0pNTNo26G1fhdAKdWBDCT/bdzfYLTk89DeDl1d0NgILS2QSkWPL1kCvg8/+Ylcs2wZtLbK+fXrIZuFPXtAKTk+lvuuWgVr10JnJ6TTMDQEFRXhey4HTU3yHE88MaJ75v087T3tdPV30TinkZaFLaS81Oh+PRPQh8MxWnrae9j+3e3kTuYY2D7A3k17qb62mjlNc1jYshAvleyf+nmfrWu2snfTXgBuWnYTi1oXlWzvGPvirKu11keCn48CVwc/zwIGrHYHg2OljhehlPoyMkugtrZ2jI9XhlKG2z7+wgtidM1eA48/LgNDV5ecB3nv7By50Y/ft7sbdu8O+0uirw+uuGLE92zvaWf9jvVkh7LsOboHhaJ1cbStMeqd/Z2kvTS5fI6mTzQVjPtI+oj35QYIx3jp7+ondzInHzSc2H+CE/tPcLTvKChY3Lo40t7P+/S099C3oY/BQ4MQTAx6Hu1h73N7mXvf3LKDxWRm3CtytdZaKTVhO7ForX8M/BjglltumfgdXpIM98qV8NRT4fGhoeg1Q0PSrrFRDHY2C5mMeOLDYTx8u39j+MsZfNMunQbPE4+/qiq8Z8KMpau/i+yQ9JkdytK5r7PIYNtG3dB3rK9g3Mv1ETfyvvZ5YucTJQcINyh8/PDzeV774Q859sILXH3rrdzwla/gpVKjbjOye4nh7u/qF+PsUTDehqHsEH0b+ljYHDXgPe097Fi/g6Fs7N+qhsEDg+xYvyNxsDifsL//nMbyM5qJZKxG/5hSaqbW+kgQvnkrOH4IqLHaXRscO0QYDjLHu8d47/GRZLjvvBMGB0tfU1Eh7ZqbZWbQ2Rl+Hg7bwzdkMnD55fD+++WvVSp8LqVg3jwx9g0NMvN48UU4ebIwY2lc1Mieo3vIDmXJVGRoqgsHJWOAn9r5VMTgQ9S4N84p3cearWtYt20dOT/HrkO7mHnRzMgAsXbbWvI6T+ui1lHPGhznB7/8T/+J1//8z9H5PO+88gpaa278+tcjbV774Q95Y+NG8qdO8e7rr4NSfParXx31vWzDnc6kmXLJFE6fOF3U7oPDH9DzaE/EgPd39RcbfIuh7BD7OvedFaNfyliPxoj7eZ+fNP6EA70H0L7myJ4j52yQGqvR/xvgXuDx4P0X1vGvKaV+hiRtTwQDw98Ba63k7Z3AyrE/9igxXnFnpxjLK66Q1333ieF+8snk6zwPLr4Y/uRPpF0qJaGVUiEd+z7ptISIDhyIGvzqanjgAXj+edhvyWOYeL6NvZWl1rBvH7z0kvRnvH+AbBbd2YG/8A6uqLqCK6uuZNlNy2heGA5KSR6+wTbuLQtbUCg693XSVNdU6CPv53l619PkfJmC5/wcJ06foMKrYMiX5z6TP8Pj2x4npVLDzhoc5yf7fvELdFAsoPN59v3iF0VG/9gLL5A/dQqA/KlTHNu1C8Zg9G3DncvmyKkgvKMgVZEif0aew8/57HxyJ2gKhnRO4xyO7jnKUHYIr8IjXSWmbCg7hM5pKjIV1DXVlb3/aI20PSs59OIhcidzHN0Thp/sQcw+ntRP34Y+BgdCRzOXzZ21QSrOsEZfKfXfEC/9SqXUQaQK53Hgfyil7gf2A/8maP63wO8BvwKywH0AWut3lVLtwO6g3SMmqXtOKOVte54Y8rlzYevW4ut8Xwx3Oi0GvbFR4uxz54rRTqWk744OOHQIjhyR9r41R62oCAeATEauNYOCOV5RAQ89JInjAwdKf48TJ8Lv4Puh4c9k6P5EuhBqyVRk8JQXCaXYBhjgkspLuHnmzQzlh6hIVdDR34FG07KwhdbFrYlhoffPRGcml069lEu5lIHBMF0z5A8VjPuSuiXsOrSLnJ8j7aW547o7yvxPcnxcuPrWW3n39dfJnzpFaupUrv7850d0XTwsVHfH9QXDrTyF9gMnR8NFV1/Eyd+cLAwKZwbPREI2C1sWgoJ9nfuoa6pjYfNCQGL68WOlGImRTmprP6s9o7AHMROW6u+MDiilwlLKU8MOUhPFSKp3/o8SpxoT2mogccjXWm8ANozq6SYKO45vyGbFWGstHvbs2clG28T9t2wJB4atW+G3fxvuuSesrCnF0JB495/5jBh5E5JJpcL7DA1BTw/ce2/5/gYHI4a+EO5paqJtVgfZQ8VetQnr7D+xv+CVZyoy/Oltf0rzwmYaf9JI74FefO3Td6SvZFz+qZ1PoQlnHgrFfTfdh1KKx3ofK8wAKryKSEhIoSLvjvOburvukvBOLodKp6m7666iNjd85SugFMd27eLqz3+eG/7oj0bUdzws9Mn77uP2Fbezr3MfKqUK3nNFpoKb7rsJ5Sl2PrmTM4NngMCQPhs1pHEjvbh18Yi95biRLudp2221rwuG355RxGcfHxz+gMEDg5EBJSkspTxFbUPtsIPURHFeSytPGHYc3+B5sGsX7Nghhj+TgW9/W45v2ACHD4feeVNTcQho/37YtGn4ZCyIkV+6VAaPkyflWLzevrdXwjfz5slsolSOwfehthaWLw9DTsCSbs1Lb/UVxeLtsE7aS1NbXcvyuctpXtjMmq1r2Lo/nOFkc1me3PVkweOPx+ULvzrl0VDbwOpFqwHQWrNx70YUKhJW2rJvSyH0M+QPsfnNzaxhzfC/L8dHxmf++I9RnlfWoHuplMTwRxnSiYeF3nrhBZb+9Gssbl0sYY+Yl+6lPNAUPGMv7fHB0Q8YHBgc1jMfCbaRHi4cZLdNZ9LMmjcLndeRGYU9+3hv/3uF8I09oMQHhotnXMzc++cWJarPJpPD6Le0SCK0o0O87SSjms3KjKCpCWpqoK5OjP7SpWJcbU/foJRU1BhDbqiuhlOn4Ix4KInVPyZkZOL2WsPAAPzmN3Lf4bAMPsCq+lV0v9lN35E+5s6cy8p6SZnYYZ2cn6Pm0ho0msWbFvPqsVeLuh08Pcj6HesTq3kAqqdU88DnH6B5YTMpL8WZ3Bm27t/KiVMnmDtzLg83PFwIK5VLCjvOT8Zq0EdCubCQl/ISvfSIIT3wHoMHig2pYbTVMKVCRCNtG+/b/g7dbd2FwcoeUMr1c66qeZS2k4XnGbfccos+K5uoXHppsdE34RJTO5/JwIoVYdL2zBkJ6ZjkazotM4PeXgnNmN/j7NnwpS/Bd74TGu+KCnj4YTHUjz4qA8DixaVj+NXV5auJ0mlobibf0lwoiUx5KV489CIncyfJVGR48LYHyes867ev54wvg8/U1FTmz5rPjoM7CuGYUlRXVvOt274VKcvMVGRYcfuKSPhn8abFkdnCotmL6LqnS9YC/LqTdCpNzs+xdM7SwkDhmJz4+Tyv/ehHkVlEcTloacMXN6S3r7g9YvSHO38uKTlzKcNEPr9S6mWt9S1J5yaHpx8nKXE7b5545HYtfUdHaPQrKyWGv25daMw9L+qtg8wStm6NeutVVbIWwK7+aWuDd96R8yqId2stfd54oxzbtQumTIGbbpIFY2bmkMtBZyfti3Qh9OIpD19LjiA7lOX7L3yfwdPRgePqi69m33v7hjX4AINnxON/8LYHWXH7ikg1j11//+LhFyPX9R3ti4SEkgYKx4XFcHX78fONmzYl1vUXlTG+HC1jHM4zLxWjP1sedFK/QOTYvd33Ru5VbgXxaHIM42FyGv3nn4fp06PetKmisUnHfj1btoTGPJeDzZuT6/61FiNtSjCzWVkLYCqAVq2SvIEZYLQOvXvfh507pY09MLW1hRVI6TQcOEDtkxs4NTcLHvjaR6HQaCq8iiKDD/DuyXeZNnVa5FhKpcjrZD2f7FCWrn1dNM1pAk0hkWsb9XiC9rKpl9H5685IqWY8T+C4sBiubn+kdf097T0Fgw+QOxktYywVAjJE4uVpj/cOvEd3Wzfa1+x8YueIqnTilBswkqp/7BxE0r162nvYtm4bfk4ctG2Pb0OlVGEmYBLE6Uz6rFXzXPhrlJMEyyorxdu3MeWTNvHPjY1i2CE08KtWySyhulreV66UY1VV0X56e2HbNjHcd94plUKG+GCTy4n0gy2w1tIi4aaaGpkFHDjAl54/SmtP9H9hbXUtMy6ekfiruLzqcpbdtIwKT+5X4VWwoGYBnor2YQx52kszcGKA9p52tg1sY/329Tza82gkzq/RVHqVhWuPfXCMdCpNpiJTOGbyBI/2PJr4XI6PN4l1+6M4b+jv6g/LNhl9GePCloXcvuJ2qmuqQYUrc/c+t7fIg7YpJ/a2dc1Weh/rZWDbAL2P9bL1kdARS/LM+zujx/o7+ou+ozH4AP6Qz77OffS093DoxUOFyqBZ82adtWqeC9Po24a+sRG++10xuO3t8jmfTzbwTU1Ro750abSNMbz19fK+cqUY8N5e8dK3b4d/9s/kWLyqx1pIRV9fcfgnnls5c0YGiEcDQ2lCQ7NnF2YQlaeH+J394WxEo6mdJtU5Vekq4sy6ZBati1p5uOFh6mvrebjhYTru7uDiiosj7YxH7/s+BwYPhGGjXJaO/g4a5zQW+veUx9T01MK1p/KnyPk5Vty+gksqLykczw7JtY4Lj6tvvZXUVPkbSKrbj5+/6tZbefWZZ+i4+25efeYZ/MCxmdM4h3RG/p7HUsZoZgKXzr4Uf0j+ZoeyQ6ChIhM4OglVOsZjH9g2wI71O+h5tKdwbu+mvQUj7ed89m7cWzhXt6QOLy0m1Et7XHfHdYXPhsGDg5HBZE7jnEgbr0Ku69vQV9Ae0r7meP/xEX/v0XJhhnfsxVj2ylXfFwP9yCPFmjamSkdr2LhRvOl8Xl5xFc7GRmnb3i79mf5zOanAOXQoWutvYxZo7dgRhn8++CC5vb2WwNx3yZJIOOnDhfPIVOwmO5SlKl1FSqXo7O9k3jXz2Ht0L++feR+NpipdxZ2fuJOUlypafHXp1EsZPFMcDvLjQiiI99+ysIXuN7sL9f3ZnJSD5vwcmYoMS+cspXVxK1ve3BJJ8qa9C/PPbbIzXN1+/LzO53njueeKwj0jqZAZCfFSTFPzP9pcAEg5so29VgWgEN0M3vO5aKj0xIFAOC4I9SxsWYjWujB4TKubRt/GPj449EHkug+OFktPTBQX5r9CezFW3Jj6vhj13/wmXNV61VWhcdVazmWzslDKeNhxlUwzOCQZ61IGHyQE9PzzMiMYGCjfPpORwcm+74MPyiwj0P9Z8O0VzPtvv8ueI3vwlEfv/l58fNIqjVIS4/eUx/xZ8yOyDDbLblpW0NRRKNJemiF/KCKxYMj5OVJeiryfL8wAcn6O2upaaqfVRpK9/e/2F13r+PhSKmFryjz9P/ojXvvhD+latizxvCkD7bj77ki4p//nP+fozp0oz0P7Pp/7g89zw1caxpxsrV9Vz5vdb3Kk7wgz586k4eEG0pXpEeUC7JmAn/dRXixnVXcZ3W3d9Hf1c2L/icKMwh/yeXPzm3yi6RMc6ztWduXukjVLWLJmSaRap+h3HYR9nNEfKfHk6vTpYmCNV69UdFAYGJBSzJ07RWsnSco4rs75ne+E1TSjweQUli9Pno0YpkwR497REb3v5s0yuwiqitZ2t7H78O4iTZ2czmGcErPatr2nvZBMtStwltQtYVX9Kja/ubkglWB+7n6zm20D2/C1TyYtXjwU1+Avn7s8Mnto627j6IdHC5/TXrpwrePjQdzIa635h02bxp2wtev1VTrNybffJns0/Fs5/sYbYxZxA9i2dhuHdx9mKDvE4d2H2bZuW1njWVLSob2HwYPRGfB7+95jx0vhYjGvwsMf8guDxcLmsC88GNgxgM7pQvjHppxo3Ei0g8bKhWn0zWIso4a5cqWUWprP+XwodxAP/7z/flQTZ/9+yQ/YYRWA0zE1wCTBtDhGrdM8o5ktHDtWPIBcdZWcX7w41PdPp+GOqH5NfPFU5HaWpz54ZpDvbv8u3W92k/fzkbr+PUf3sOL2FfTe11u41qyczft5Hu15tEiArZQwm/1c9izhmouvKTnTcJyfxI34lGnTygqtjVSIzQ73fHjkCFm7qGGYa0fCaEsfS1UF9Xf1R6Sejddv+vZzPtU11UybPS0SjjJ9bVm9hYM7D0pIKEGFJF5tdNHMi7h8zuX4OZ85S+ectUTuhWn0TUimuRnWrJFQCsgOWEYOOZUKVTftxVVawzXXyM+HD8ssYP36MKzy5JPFC6fSaZlBlDL6lZUwY0bx/ZWSUJJt8E3NvrnvLbeEx1TxX47tcRs85VFfU8/i6xbz/V3fL8TrT+ZOFuLw8bp+I7gW175PygEAJY9HnuvIHrI5WUNQd9m5EZNyjJ5SYZu4EQdJxJYSWhupEJsd7nn1mWcKA4thNCJuSYxGXmG4fo68fITcyRzKU9Q01ICG9w+9L2WVVWnm3j+35ICyb8u+SPhn76a9LFod7uo1UTmM0XJhGn1De7uUPhpjvG6dGFuTsDWvSy4JDXk6LcZ58+ZwtawdVtE6DMtUVIQyDOVW0M6bJ9VDceJCcNXVslrYxPqz2fCeIN9j82YZyKAQV7+i6gqumHoFcy6bQ07L6teV9St5tPfRiIfhERp62/BnKjKkvTTrt68nm8uy4+AOut/spuuermHr6kttlBJP9r546EUe7XnULdI6D/nlf/7PBZG1d159FQ3c+LWvFRnxurvuKqvLMxYhNnPN0Z07UakUOp9nxm23jVjELYnRyCuMph+d1+x4YkchTn/RVRdRv7K+5PVzGudw6IVDBcP/weEP2PrIVpRSkbr/c71q+MKVYcjnRT/HGFBDfb3E/ONSywal4NprYc6cUBHTlmTI50MphaYmScru2FH6OSoqxMtfvjzcj9dgL7gy99AaHnssWX8nJg3R1t1WMNRGBM0Y6rbuNtb2ro2EWCq9SnI6h6990l6aBdcuIE+epromOn7dwfaD2yO3W71wNWuWhAJpcQO/qn4Vd/7FnQXDXpWu4qEFD9G8UOQhntzxJO8PhXLMC2oWsG15wuDn+Ej5n42NkZh6ZuZM7ursHJFsQikmanetiWS8K3M3NGxgYFtoT5SnWLi6tNH28z5P1z0d0c2vrq3m5Dsnz7pUxOSUYWhvjy6AAvHim5rEYJdSx7SFz+bPL0gXR8Iy9kYqW7ZEr589WwaNdBr6++UZBgbkebq7xbs3z9fZKbMAW9gNJM4f1+Qxm69Yu3V19XeRzcn38LVP74Hegjcdj6kDBQ0ekEqaXx//NffffD/NC5vR6CKjv3HvxoLRz/v5iAzzy0dejnjyIOGjzn2daDTf3f5dTuaiQnSuZPPjxXjE1yZqd62JZDT6+UnMaZzDwR0HC56+9nXJfIEZYIBIshdN8eItzTndMvHCXJwFYlxtb7myEm6/XaphPK9YYiFONhuupG1tjXroNnGPfNasMFlsnzdrBB59NCz/3L5dBN6WLo3eo64uGr9Pp+GBB8i3NNPW207DhgbauttYUrcksprW1z6d+zoBiamblbelOPj+wcJK2ZaFLVRPqY6ctyUW2nvaiwx839G+wmeQXEJTXRNd/V1FBh+g/3g/eT9Z8sHx0VH3hS+ggr89lUpR94UvjLvPeD6g/+c/LyzCmijKraRNIinBOxoWtiyktqE2tJoKVEol3tcMMIMDg6DFw7/twduYVjetkBBOV6Xx0l7JhWFniwvX6MclE267TbYa3L5dErfGGCsl0gaLFkls32a4gQGKV/FWVIhB37YNrCkzIIa/s7O4/LOjI7qC+MUXZcahlHj4q1ZBc3NB82bbwLaC/HFDbUPB8E9NTSWlUjRsaMDXPn92+59RPaWalCo9rTYbrqS8FN+49RsRiYZlNy0DxMvf0LehyMDPnTGXTDpT+NxQ2yAbs8xpLJJ2ADjywREnxXAe8pmvfpVP/+EfMv3mm/n0H/4hn/njPx53n1ffemthIAE4+c47vPajH427X5tyK2mTmNM4p+zK3OHwUh73dN3D7IbZYrg1HNp9KPG+9gDj53ym1U5DKcXhlw6HUgvzZ+Hn/HENRGPhwp1vr1ol4RSzvaGtoGmjtYRkursl3r/dCnGU07W398O1QzR2Xb3ZNcusuLUF2ex1BPYCLLuEVGv47GcLidv4nrOb39xM973dhZLKlEqx+9BusjnZiPyWmbfw4ZkPSwqqAVSlqwo6962LWmVFb1CGubJ+Jau3rObpXU8XrdhtqG3g+S89z7pt6yJlm0lJ3MKv08+5fXLPQ0YTxrFj9VfNnw9a89bu3UVx+xu+8hX6//qvC7kCncuNqwwzidGWZk5EgtdsgF4QhSuxt21SBVF/Zz+5bCi1oPOaOU1zONo3/kqj0XDhGv21a0Nt/N27xTBnMsmG39TONzXJIGGMcWOjeOBGAsFOxNordE2C1Wy2Ym9peNNNsiOWUtGSTXsdgT1Q+L6c01pmDVZdftKmJHbpZMOGhkKMPzuUZdehXWUNPsC8a+YV6ufjZZht3W08vu3xotxAZaqSnJ9j7ba1hT11bVJeiq57unhk6yMRiedM2m2k8nHHjtW/8+qroDU6ny+K23upFHO++MWwHFMp8Dz8fH7CErrlSjNLJW1Hs51iqb7qltQNWxKaOMBoiq6zF3ONp9JoNFy41TsNDdEyyQULxBOP19nPng2//nWor2NX5tiLuOKbqiT1n06HNf+eJ2Gjt94qrgAynDkj4mw7d8qsQOvojlrpNP6KFfQc3M5lO/t497ab2Hr3QroGuiOetaGtuy3UsU9nyOkcZ/LlVw3XVNew7xv7ZNOT/k7R0MnnaPpEE52/7ixK7gIRCecZF89g+dzlEdlkU+WzoW8DhwcPk0cGntmXzuYfv/aPVKYri/p0fDzouPtu3t6zJ/Hc9JtvZulPf1r47OfzdC1fztsvvwxa402ZwvX33z9hCd1yG5VM5IYk8b5ue/C2RC2fcpVBBR395/aChpvuuylSsz/RTM7qnbgUg0mWGmVME/Z5/vnQe7crc0zJZ1ySwQit7d8frtw1IRq7pt734fjxcCtFW9IBpH97Jy4ortPP5Rj882eYd3yQi4bgwzd7ghlDI539nUUa9fYq2ZRKsW3/8OWRCpW4D27fsT7mXTMvUX/HiE4N+UMMDA6wfnu4vSKQ2B/AwOAA67atc+GdjwGlSi7jEgrG009aUOWlUvLvIPg34Z8+PaEhnnKe+0RuSBLv683Nb3Jf730ld+0qpaNvNP0rMhUoT52zPXHjXLiJ3LgMchBWyacqWb2wm9pLT1Db383qRyuL9igHxLBbidgh0mxJNeGvCcI6AwNhEnjFCjH+tn6O58mgEtfft/u3Db5h+fLINadyp7gosLkXDcFFPTtZv12SuY9sfYTLv3M5q7esLkgrNC9sprGukb4jfQUPuxQKxT033pMo5ZAdypLzc6ysX0lNdQ3VldXUXFLDwtqFRaWXRnLZUEoawq4ucpzfmDDO23v28MbGjYUk7A1f+QqfWr6cK+fO5cobb6Rq+nQyM2bwyWXLEhdU2bLK3pQp4HkFSeXcmTOJEssTwXiTtgY/7xc2NwESNzfx8z59G/rKJmTHWzk0kVy4nn68np5w4ypbdeHRR+G55+C++2ScAMmb/vPvdDHfklU4zDX87vZmenYuZv4ZK1E7e7bcQ+tCPsBXHn0XN/D/1D9P86J1eJs7o7X+gO7sishxaEBddpkkoK14/z/8ejOX/KxHPP0K6KyjELfXaAbPDLJu27pCyOXpXU8X5JTjVKWrmJ6ZzoFBWQOQUik85SVKOdgSyfEFWnVP1zEwGF30Zg8Edn8eHjr4z8X0Pz6U0tEpJH21LsTrU1OnojwvMVZvr9LF83j3tdcKtfvHdu+OfJ7IWv6JWpU7ks1Netp7+OBoKI3spb2igWGipCEmggvS6NuFNSYC09QUlsrbaQytZR3U+vXy89at8vJo5NPs4SKyfEiGDSzndC7F31rHI957IPK2f0MnPz3cROtgM1OfSpF/sBXV2EpXJzTqMBfcnWpkPi9xEafE4AP62DG671zH6nwrjY2ttDRDg7+SHu9OLt/Rx57rL2PN3INF3zfn59i0dxOHPzhcJF9c4VUw8+KZHD91nJtn3syQP1Qw+jmdK1QAKRQd/R2kVZr+4/2gIK/zhRkEhLH6E6dOFD2DqcE31TsmzGSrdiYJsznOT66+9VZ+8/d/j3/6dGIStpy4WlJo6LNf/WqRpPLxN94YVqBtrCt7x5q0jbNv869Y8Lsd1H16H/v+vo433767KCzT39WPzuVY9Ptbqfv0Pg4f/CS3rvp2pM1EDUITwQVp9O3CGkNfH1xxRWnp+mwWNm2Cg4FNbacFjaKJTrpo4lGaI8d/v7qTGx+IrtTNN7fS8GwrA7mwTyPdb+TwlZKJwX39LdyL4gGe5FIksaxOnaKyt5NtfqvVtpIlm7oB+NqGBs4MFM7FWKgAACAASURBVIeE0l4ajU7Uq8/rfGEw2H14N/OumUemIlNUAWRW5W7o28DRD48y5A/xvR3fo2d/D7l8jnRKBoMjHxxJvI+pwW9d3Brpz0g2dN/b7fbH/Rhxw1e+wrHduwtJ2Hdfe43XfvSjgice1+Uxu2Ede+EFNPDOK69APs87r7yC1pobv/71omsu+9SnCp5+KZG1CVvZ6+fhtXY41gVXN8INLTDc36Of5667/yOXVv0Sz9PMrDvM7A+uA+6PNJvTOJs77min9rf243maa3/7GN4ba+GzYZRhogahieCCNPpxHTOQz1deGeqjKSUVkVpLlCaTkZ8LKsukeIRW1qZbWbAArt0nopu5XIrvZVrxHmjlxlg+sr1dNs2yOXEiWZ7fV9K/QvNnrOcispz0MjzvNxXaPvusVHOa2Uq6qZFMhShXKhQVXgVXXXQVy+cuR6MLG6HY+NqPqGmarQzjkshJyVdblXM44jX47T3tEQG3TXs3ce0l19L0iSa3QfrHgHgSNu6Jl9sNy0bn8+z7xS+48etfL7rm+v/wH3j9v/yXsgJtI5VrHpbX2uGN9ZDPwrt7AAU3NJcfCF5rZ9pFr6GCUGnllBzXzfp1UdcLv9iDem0/Skm7lHcajnUC52fBwgVp9O3CHUMmI2Xynlcss9/RISGXvr5oP9XV8M1vwurV8tmu5mxOiFJ0dRXPJEz1ptm/xVSCGi24dlpQSnHXJTKjePzDZkz+9dChqF5c1d4WrvqzbgaUGOKUl+Lf3/zvaV3cSt7Po1Bs3LuRE6dPkD2TJadlJyyFwsePxOnjFTRJyVdbfjmJSq8SX/vkdA5PeaRUijO5M6zdtpandj4V0QXaf2I/+0/sZ8/RPZFKH8f5QzyUctW8eSWlksvthlWKpEVgwy0KG5Fc80i8+KOdYvBB3o92ALp4ILC8c451oSJbhnqoGcU5Ke+tzaB0pB1Xn7+5qwuyeqelReTva2rEcNfUyOfVq8XL7u4WY9zYKO933CGl8u+HgpAsWgTvvivXtLfLXiZay7W2TI69B3sqFVVuUApOnQp3ZZw/P6z43L1b2vikeKq6ldtzvfzpYCs5Hf6xxgeQkx+mOH48XyRwBrIgas2SNRz41gHeXfEuC2oX4ClJoiqlqK2uZcXtK0rG1O3NzgGqK6upr6kvyCwkMW/WvMJ9fO2z+9Bu7vyLO1m/Y33inrvxZ3acX8QrdvA8PrV8OdNvvplPLV9eVu7YrtJRqZT8wQMqnaburrvG/EymWqjsMxgv/u1t8v5agtSHShd/PtYVHQj+4Ul4tU0GEZABJGX+/j2Y3iCzAz8v7Toa5P2qJeBVFbcbC/G+z4JW1QXp6dv7kxjdNM9LXky7Z4+EfeL7n+Ry0m7DBhHKzOWiMXlDfA/2a6+NJortbXDNHuudnWH5PkgIyFBue91MBj53+RIaF+9i4ewcvftT3F7jAQ1AI9ACpIr2sM3rPLXTast610Y6oWd/DxrNB2ekGuHB2x9kY99GDr5/MFIRZGYNnf2dYfgol6XvSF/JnbwgFGVznH/EQyn7/vqv+RfPPz+iGLodurlq/nxQirdeeGHEuvqlGJFERNx4J4VWdK7484wm8fDNtblBGTSMx39Di/x8rFM89xuaZQbxalt0hvDJB+H6h4rbjYWkMNRnJ3ZWfEEa/XxejLUdS3/ySQnjxJWVs9lQ8cA2/AcPwne/GzXO8fVVULwH+8AAPPywGPcNG6Lrt0yhT5KOm1FeMOKa5udZs+ATnwilfR5+GHwUlSm4rUaTUjuBISD4Awn+2JMkG4LfDtAOdJE0UBjD7uPTc6AHpRS/+pNfsW7bOqnu8dLkfNmoxSRr7fvMnTm3sGdvWqXxlMeQP1TYoN2IsjnOP66+9VZJvAb18kYk7bNf/eqwVTSJxvlrXzu7D2zCOh/uF89d58QzTwqtzGiC431iTFMZmLE08MaVePi5YGZqBg0/Hu+3DHl8kHlrMyztZUJi+CMZwMbJuIy+UupbwL9Hysx/CdwHzAR+BlwBvAzcrbU+o5SaAvwE+BzwG+APtNZvjuf+pUiS0h8cFC21vr6oDE8mIzX6AN//fqjQYPZRt4mvrwIJEW3fHt1t8Qc/ECOdzYZCmd/8ZpgHKKfjBuEAkE7LWq01a+yzWxAjD2nPJ9zEMwuEfyCl97BtB9YH7YsHih0Hd0Ti+L0HeguraJNmCvHyzLzO03+8n7SXJnsmyxn/DGkvzTUXX8PyucuLpCMc5w9JImlHd+4Eren/67/m5NtvJ+rsjIX4IHL9l7/M6z/+MUd37UJ5Htr3mfH5z0cHl3jsXvvwD0+IcVQVkKmBOfcnh1auXwXHusXwXzYXrl8pRvyzrURi+2bQ+OUaeH2dDCTv7JJ/kDcG/xCvbgxnCKUGmbFyNvsOGLP2jlJqFrANuF5rfVIp9T+AvwV+D/i51vpnSqkfAa9orX+olPpj4LNa6z9SSv1b4Ita6z8od4+xau/EZXHiGBkeOymbSpW+Lp2GmTPh/vsl+bt2bajB9tBDMG1adJvbysroZ88L8wkQ3TDL8+Dii0vvtlhfD729tneeAl4ETiJjtkIGgQywguG9ggbkf5uhNng1kvdX0fiTO9m6f2v0GWrrI5uml8LW/jFxfk9By0L44ieruXHGtzAzC8f5ib1nbWrqVC6/4YZCWaVNXGfnbNwnNXUqn1q+PBxc7LBKKgNTroCsVekwvT7wuJNuGLv2UyvCsImflzyAHZ75m7po35kauOtA6fYjdWSGSzqPp2+Ls6m9kwaqlFLG6hwB7gD+z+D8c0Ab8EPgC8HPAH8FPKOUUvosKL4lVe9EHjodXaxrkrH79xeHeTxPBomuLhkYbIO9Z48kduP5gBkzJDxUKP/0o2GhYB1Xoq5bOi3nTBmphIna+dKX1lNZmUV+zVcBx4GbgIVAN9AElAubmIFjP1CBDBQVwGHgALCHlKfouqcrskOWLb08HHYFkNmDt3Whz6qFkPYGg/ub53Ccj8TLKo/u3Flk8Me7cTkU5w/shVqGohLNeOiDK8WAj8QrLhU2KTLCpYysvdm0mSGMIewyXMx+PH2PkDEbfa31IaXU9xCLcRJ4HgnnvKd1IWtyEJgV/DwLGAiuzSmlTiAhoHfG+gylMEb12WeLt8iF4vCKnYxNp2HKFDh9Ws7ZCVgo3v+kry+auAVJ5tbVyepfu1TTEFeIsBO8Rkl582Y59uKL0N7eFRh8kLCMWaD1EjLGDu+FR8M6HlAJTAXMFEPCQymvla57ugoa/aVX0dqzjyUA/MXv7+cvXk2zujvH1FSGebPm8a3beoMwFEgo6gc4o3/+UhSb17pgkFU6TdX06cz54hfHlZyF4lJMe6GWQaVSkhQuXBQLfdQtA+VFveKSNywRNillhOuWweuPgx6S0FHdsuI+x7Lg6xzE7IdjzEZfKXUZ4r3XAe8B/xfwO+N9IKXUl4EvA9TW1o65H62htlY89QMHQsOcTktox8Y25LmchHKOHhVvOyZpXyTeOXeu7ItuvP10Wq7J5SRcFN/+NokEmSDWrJHrT56Erq5Gbr31BSorY1MKsshYqwkTs6uAtcQTtfLZDBw+cCZ4N15/VdCugZS3hNbFIIsHS03E7EHkBUAze1qOP1tQwYyLazg4eH8Qv88E9zKUr+V2nF/EPf/RbI4+mn7NQq1f//znnHzrrcK+Em/t3k3H3XdL8vgPV+ElVdOMxGgmVeJAsRHuf1baXLVE4v5vbS49oIyl0uYcxOyHRWs9phfwr4Fnrc/3IGGcd4B0cOw24O+Cn/8OuC34OR20U+Xu8bnPfU6PhdZWrTMZrUHrqiqtFy3SurZW65oarVev1jqXK90+k9F64UKt02n5nE7LNYbTp6W/6mp5z2blfE2NHKuuDq/NZLRua0t+xlxO7ltfr3VLi7zq6+WYeT7zXJ6X0/v315T4Nc3WWmeCn9Na6+rgneC4eYBWq539qtFa12utF8X6qUjow6a+xPOYPhcEfVYnPG+uqDeHQ2utn//Sl/RfXn99+Pr0p/VfXn+9/tnNN+tXnnkmbJjPaf1Kq9bP18t7fox/U6+0av2zjNZ/idb/Na31f62Qn3+W0fqVEv94Cw9bL23N6/n64e+Xz0m/z9fL+1ifexiAl3SJf6DjiekfAD6vlMog4Z1GJN6wBfhXSAXPvcAvgvZ/E3zeGZzfHDzchGN77idPSvgkScXYEI+xd3SEIaBcTvRzVq8Wj3ztWgm5nDwp4Zvf+R1ZyGXuZcf3s1mR629tDfdLMTL+9fXw1FPS5oUXZCYSXwsQPleK/v7l1NSsR6l4ouJdQg8+RxiuITj+LFLVswR4ENiExPFzSH7gPiRe+VSsH7uPpCloI1L9k0VmCzq4LgUcIojkBSjCGcPbwKMJ/Tkc0bBPoYyNhPh+KS97tCEXewbw4QHIBsnafBb6NwQzgxL9jNRrT3qmCa69Hw3j2jlLKbUG+APkX3sfUr45CzH4lwfHvqS1Pq2Umgr8FJiLWKp/q7XuL9f/WKt37GTr1Klw9dWyn4nZM6XS2rjJKHLaOyK2t8Njj4WGv6JC6uObm0P5BJt48tdm9mx4801Z0bvVKoqx8wZxpGInfjSPGMsNRI32PGA3ocG2Ucikyq7uaQ766USSv3ngidj1I6kKMs/TieQVADYDrxIdeBK/ISPLQzjOBaNVshyr8uWIn+VHPypIMf/ml7/EP326uJKno0FW4BpM5U65Kp3hsK9VgSNjav+T+hlppU2836oZMGf5yHIAY6Rc9c4FuV2ivevhwEDUy1+0SCpuDKtXi/5OLifx+FWr5NicOZILMNTXy6BgDwYj4ZJLpBzz0kuLyzLNYGGE38wirviuirFvR9RorwTWIR79QaIx+CmAPbLUAv2IN24SsU8RNdLVwJ8APcBeZIx+Pjh3JzKOm2NJ2x7WEvXyIToTGGlpqeNcES+fjBjXCWhfjnIDiD90htfa/x3H+v6Rq+f+Nje0/CVeRfA3V8q4xweDTA1cNFs87OtXwetrR1Yu+eH+kZeDDkf8mUBkG66YD+RHngQeBZNuu0Q7MXrppdFzcVG1TZuKQzlr1siCLXvfc7OSN27w02nJOZWST7j5ZhmELrus2OjPmCEzgcWLZWOXvXtlNrJyZdlvhxhMYzTziEGtRapyBpAEbRUwH9iBWcwlM4RHEC9+A3DUOgdikB8I+jQrfXcgg8NPCauGtiIDQHfC8y0DHg+u9ZCJX7D6jc0MX1rqONeMVslywpQvKS+d7L2xls9++m/hk1lI/QreWBd626USs1c3wm9eBt9sU3pIjPe7e2Rx1ru7R1YuGR9UxpNwtcNABv8kvN0DaHjnhejir7PMBSm4ZjDG1uayy6Qqpq2NxG0ST5yQ874vIm32bouNjeFOhkpJiOb22+Gaa5Lvr5T01d4Ob78dPVdVJYu9entlkHrpJRkUdu+WmUfCt0GWOTQE7+bhTRXNdiRe3oCETx5CvPEZVh85YGPQfoCowa8mDP9sss4NAd8lNPiGbbHnMLQCDwfPsBrYF7ybOufzd2Y5WbHF0kZSgz/a9uVIHEAKJ5PKGwOMgV7aK+/GS76hBS6fZ93BD683MgxJ/RWaB4JnRzulnysXyCxirAJq5pk+tQIytZbwm5Xn0kOwb9M5EVuDC9TTN7S3w7Fj4edLL5XP+/eHCdNly+DxxyXM4nni2W/bJudXrJBQkFHZXLJEBoKNG6Wk8/RpMdbz5km/8bi+UeWE6EKx6mp44IGwjDNe+x/X9wm+DWGJ5MuIl51HjLFdw58juuJ2uXVdBvlji8f/jYdfKuRyJuFYPug3lHEQ4jMRkMEhWfrB8dGTVJY5ke3LUVY6eSzljV4KsvuKj6cyIr9gPH2A46/CK6vhM9agYSeIR5sTKPdMn20N9PuD8NHxV0O9HwD0ORFbgws0pm+IyyrE5RGqq+Eb3xDjv3mzDAZ2kvb220XT3uQEqqpEdqGzM9rvggUyC2hvL16o1dYmx+xQUTxmbyeeMxkZRMx+vmZ7xWL5BA/xYuzKGIBFRMMu8RyAnbhNA9cgA0MzoTzCaiRPMJLkxUiSsvFnd4lch2AnbovWAfh5+OUj4gWj4bp7ZDHWW1vKx8H/Z200Hu9NkZr761fCljvhbVtmxJNYv5eSmcVExvLL8crqUNuHNFx5O7y3NzoQjOPeky6mbypybFkFo3ZpMzgo8gcrVkiYJW58bYMPUpJpdrIyG6NkMrL4qrU13F/XMGWKVAs1NsoMYfPm5A1YTGlmR4fIN2zblqe5uZ2lS7vo7W1k8eIWoiWSxuBDcbhkCPGs7cVZ8RxAinAQsI29odVqk0IMtj3VNANNJugj8tunWMXTfvakaxwfJWezGmc4ykoneylAw8nDYhxfX4v8PeaKPWG7LPKiOsgekXaqAj71kOUxx0MmPvzjD6T/fFbCL6pCQi5nc/HUZ1pBpYIQUyo6A4Gzeu8L0ujHZRXMwl67GseQzYqxjdbFi3F+4oni9um01OmbjVHmzZPEa1ubDC7V1WHC9vRpWa27d284sNjEy0XvuAPWrcvT2dlIQ0MvqZTPyZMvI0Y2SFwVDHGpMs1fIklYjcT5NyCevC10pmPvcewQTR5J/n6fsMrHJGiXBefrkT+lwGspCMKZUI797C6Re75RKpn6UQ4GBfZtsrTwTQUYxRIG8bDM9AVIZUxsNe3VjcWVNPlToIMQgM5ZFT/DSDuMRYbBYCeNOxqiBj99CVx2c7i71wRX9lyQRt/Wy8/lZOespqaosqVdbWP07eNyCBs3RnfTuvRSMexGY9/34de/hunTQ0Nv9PBtslnR1u/sjIZskjZzefjh9oLBB6iqOkm4wKqRMHQTr9lXwct6YDSSsLVj73ZuYFfQx5ygjybCwSHusX8GGUQIztUGfX6P6OBjz0LshV1nV0TKMXZKVeNM2KbkZwNVAVdZ+ijxpO/xPvjkt4pr529ogaNb4J2e4EAarvg8HH8pHDDm3D+yhV4TFYOP5y4uuzn0/I/3jb3fElyQ1TtxZySdFkO7YoVU48yaFT2fVHefzxcf//SnJVxkc/BgtBQzKUVi9H+2bZM6/0cekePxBO7Ro9DU1FUw+GF/R5EQy2OIgW5HvOX+4L0euBYi+3naGOML0EF05e0AUoK53eq/DViDDA7bgvc0EpqBMERj6/kYTJ7B8CKwmORksON8oFQ1TtnKmnNF3bJgoRSIuSpRBRbZ2pBwF6z41oleCpo2ww1tEjO/oRnu6JCE7fT6aKXOcNswlqsuGg3Xr5JKoXS1vPtDE9NvCS5Io78vlrzv7w+9+N5e2ZjElF6amHyc9nZ4663wczotMgqjWZgFEte3ZxW5nGzWYhK1Gevv9MwZEVfLZuWg1h5KVROWT+YQ9Yt2xPsG8Z57kRBOqf1sPcI4+qEyT2v6X4+UbdpVQf2IjEM9YWlnY8I945PHM8igMp3kEk/HR02pfWgnsjRzzHymFT79sBjkzCzCMseciKEZTFlkujo8lrTvLRSXe6Yrk8s/hzPq9kAznhj862vFs88NyrtXMTH9luCCDO/EOXEiKo9sJ07TaXnXWlbjmg1S9u+PlmBec40kYLWWTdRLLcZKpaL1/5WVxXIL778vK4bNc6xdG1YVPfJIC9XVmm99ayNKKeA6JH5v7duIjxh6W8PGxM2fB/4eMBvvKqR6xsQm3x3BbywLXEkYpweZbXhEq27MPTustgcoXpELkg9IKvF0fNSUSqZe/+Uvc2z3bo6/8QbTPvlJ/FwuVLw8V/H9kS6YStoFC4r3vY1TLoQzXMloqQViw/UbJz646JwMYCORjB4DF6TRv+ceCaMYBgfh8sulPLO1NfT67VLKvj6pqd+9Wz5XVET3t12+XK5raZF2Ris/zqxZ0YSxlzCX0jocaLq6RB/IGH3fT6G1QnaUzCJipPMRT9uWWfCJCqGZ5KtG5BMMlyAbrRhuRjzvwhMioaHjwAeEVTnLEG/ffJkhioXXhqvJj1NKvM1xPvL6j39c0Lj/zd69/OaVV9C53EcX3y9nZONtkva9Tfq7i8flj3VTkEa4flX5+5Xb8GQ08f744DJj6VndSOWCNPqeFxHoA8Twr1sXGnxI3hDFfB4akqqf2lqpqsnnpe6/sVHKMNetkxBQfFVvfCBI2gaxqkoGFLvCyN4X91/+SztWnkVCIvuQcEovocxC0rQvHmcfROryjYF+HpFQ2Il45j7imZtflkJCMV3IVglvI7MMu9QyqSzTeDHG+/874PXg/qbvNKE4m+N8IqlSx47pa+sPfTTSCxNaATSSXaXK7XubRNzLfjv49xUx1KOcIST1W26zlJEMZhPIBWn0t2xJTqjmctHVrkkbohhPP5OR1bpKSeWN2VTFrORtbpbqnrhk8+BguOl6vEoI5Nj8+eHG6ea5rrsuT0tLO42NXdTUpBAja9e1pxAjay+0SvrjsGviDbaHXYlUANkLpuxflka8+/3BvecjRt6+3xrCxVtJZaFmxvFKrO+E0ibHeUFSpY69WlalUqAUOpcbVXz/I6sAGqkhjejiWJVnpQy1Mfb9G+DkUannT/LkR7Oa+BxskWhzQRr9xkZ4+eWwtNLG3rYwHtsfGpK6e7PbVT4P3/teVELByCRoHU302ucXLAhzCEZ732C2X2xqCmcWmQxs3NjO4sUmLGLE0kzde1CvG1loVcrbbgnafh8p3yy1iCppcDAYQ21mGb3B+xok5HOI6OKweFkoyCAT73sIEV07N8JSjpGTVKnTuGlTQW7hqvnzZSerF14oK70Q9+yP7to1YeJswzIW3Xp7cCAFv3lRxNBsQ233a7cxJA0Q59h7Hw0XpNG398g9eDD0+hcuFA89aVGU2Zg8k5HVs1rD008Xb65utk/s6koeVHI56b+3N5R4fvbZcKZgFDubm6MLwRYtssMyJwm9azMQ9CEGViGGPkW4CGoH4r2b40YLXyPeyzyKZwUmDPMsUSNuYw8W7ZSXZsgiHr9Z4Zv0p+URrgE4x4t8HGVJ0sBJTPB+7Wtl+4l79pffcAOpqVPJnzqFN2UKeN74ksHlwipjqZu3vewkffx4v5F1KAFJnvxovffxLPQaJRe09o6tq28MbSpVLLdw5ZXR5Gt1dXQRlo3nSZVPKhX2oZS8jCxDXFun1HNYLYjG643mfCdRzZpaJLFb4o+P1YgX3ZBw3T+RvHduks5OkiZPvM8k0sgevQp4kuhCMUMVogDqkrnnE2U1cEZBx9138/aePYXPV86dy4zbbitsimISw2PW4Y9X8NiCaKU2VhkvRXr4wb89lYaqa4INUZrHZ6TLfa8xUE5754Ks0zfYtfmmageiK3azWfHq7UVXg4NRg2+vsvV9+MEPpI/p02UQ0Fra1NaGMsxJz9HdLW0XL45LO7cjm4sbIz4dMfopwv9FmeC8mQ0keeYbg/dGop72ALCUcLHVY8jGZrVIuMY2+JWI4e4n1OBJ6jOJXNDfeqIG347lnyRcKOY4XzBe/dKf/pTPfvWr4UYm+TyvPvMMHXffzavPPIOfpEduEa/tn3HbbYV+8f3xL/YqVzs/UXXzceL9Tm+QAeXTzfAv+qO1/SMhSUJ5ohZ6jYALMrwzHHEH5rrr5N1W2DTVNJmMhGxsdc7BQdi+PVohlM+L0S+145VZjGVKPV9+OdwLV7zvU1brAeB3kfCNTxii8ZGyzcI3oVgIDcSLt3fE0ojkgvkSueDcIOEqR221heJ8QQsSMvoexatrzawjE1xvx8Qqg/vZFTxOcO3jwmgTseVkl8vKKI80vFEuQXo24uh+HrQPU64ENNTdB59ZPT6vPikMNRYZ6TEy6Yx+Pi8CaDZvvinbI9pGv7ZWNHtSqaiMso0dGauoiCaJ47S3R2v7T560K4kakbi88d59JIZ/0vqcp3gjk4uCNkPIloTLguMp4FKi2yDmiS62MvhEt1UcQmYMZp2ArX+/nWKDb5LOJgeRJ5RuzgBXEF2sNRMnuPbxYbS7ZJVTzYwMCLfeyg0L3hJv9+pGMaz/8MTw8fhyhv1sVMG81h4+Vyoj0s7jjbUnefWN3ZyrxO+kM/rt7VERNYhutGK49lox0g0N0Vr8UvH+qqrisI5NV1e0fNPz7EGiBUnEmpi++d9ijLRJqD4b67Ua2fwkXsKZR2rs7cVceWRgqCRquD3g84SqnfGNVuxyz9hek6SQ+LyJ+5v7pKxn2kzU6M/BJXHPb+wKHJTCmzKlsDn5eKQYIgPCq23wxvdCIz/lipHVtZ/j8sZR1duPlCSv/hx+r0ln9Lu6imv4z5yBI0dC7X1bjydey//Nb4rBXrcuKq8wbVpx2MjG7sfzZDAJBwm7Bt8oZw4iRroGuB8xrHnCpGsaSbQm/aG0Ay+RrLV/CVGjPwtZsLWO5I1W7AqeuURX89Yn3NvU6ZvjHbHzoxQvcpxz7JBOaupUrvjMZ8D3x71LVoS4MeVKMYDnILwxKs5G2OUjLuecdEa/VA2/kWCePTu60UlcY99U3uTz4TaLFRWykKscpfoJMcayk6j0wWxCA2oSq+UWZ0Hxqlw75n4zUa/+fsT7tw113Fs39zGrefuQAeD58l8aguv7rPslqNs5ziviIR18XxKxE0ncmNYtk9DJ+VbXfjYM9LmercS4oEs2k7DLJ+3FU0mlliPtJ9mIj5U2onvarmD0fxx2H/GY+0qiXr0dmjkb5CleRezCO+czrz7zTMTTH1Np5XAk1cSfpbr0yUi5ks1JZ/Rtzp7hHtdTMX4j6QytY+xMVM2+46PDGX2Hw+GYREzaxVkOh8PhiOKMvsPhcEwinNF3OByOSYQz+g6HwzGJcEbf4XA4JhHO6DscDsckYlxGXyk1TSn1V0qpf1BKvaGUuk0pdblSqkMp9U/B+2VBW6WU+oFS6ldKqVeVUjdPzFdwOBwOx0gZr6f/NPD/aa0/CdwIvAF8G+jSWv8Wogfw7aDt7wK/Fby+DPxwnPd2OBwOxygZs9FXSl0KLCSQtm/NVAAAIABJREFUftRan9Favwd8AXguaPYccFfw8xeAn2hhFzBNKTVzzE/ucDgcjlEzHk+/Dngb2KiU6lNK/blS6iLgaq31kaDNUeDq4OdZRDV2DwbHIiilvqyUekkp9dLbb789jsdzOBwOR5zxGP00Itn4Q631XOBDwlAOAFo0Hkal86C1/rHW+hat9S3Tp08fx+M5HA6HI854jP5B4KDW+oXg818hg8AxE7YJ3t8Kzh9CxOEN1wbHHA6Hw3GOGLPR11ofBQaUUv9bcKgReB34G+De4Ni9wC+Cn/8GuCeo4vk8cMIKAzkcDofjHDDeTVS+DvylUqoS6AfuQwaS/6GUuh/Z1PXfBG3/Fvg94FeI0Pt947y3w+FwOEbJuIy+1novkCTf2ZjQVgMTvBODw+FwOEaDW5HrcDgckwhn9B0Oh2MS4Yy+w+FwTCKc0Xc4HI5JhDP6DofDMYlwRt/hcDgmEc7oOxwOxyTCGX2Hw+GYRDij73A4HJMIZ/QdDodjEuGMvsPhcEwinNF3OByOSYQz+g6HwzGJcEbf4XA4JhHO6DscDsckwhl9h8PhmEQ4o+9wOByTCGf0HQ6HYxLhjL7D4XBMIpzRdzgcjkmEM/oOh8MxiXBG3+FwOCYRzug7HA7HJMIZfYfD4ZhEOKPvcDgckwhn9B0Oh2MS4Yy+w+FwTCKc0Xc4HI5JhDP6DofDMYlwRt/hcDgmEc7oOxwOxyRi3EZfKZVSSvUppf5X8LlOKfWCUupXSqn/rpSqDI5PCT7/Kjh/3Xjv7XA4HI7RMRGe/jeAN6zP3wGe0lr/M+A4cH9w/H7geHD8qaCdw+FwOM4h4zL6Sqlrgf8d+PPgswLuAP4qaPIccFfw8xeCzwTnG4P2DofD4ThHjNfT/z6wAvCDz1cA72mtc8Hng8Cs4OdZwABAcP5E0D6CUurLSqmXlFIvvf322+N8PIfD4XDYjNnoK6X+OfCW1vrlCXwetNY/1lrforW+Zfr06RPZtcPhcEx60uO4dgHwL5RSvwdMBaqBp4FpSql04M1fCxwK2h8CaoCDSqk0cCnwm3Hc3+FwOByjZMyevtZ6pdb6Wq31dcC/BTZrrf8dsAX4V0Gze4FfBD//TfCZ4PxmrbUe6/0dDofDMXrORp3+Q8ADSqlfITH7Z4PjzwJXBMcfAL59Fu7tcDgcjjKMJ7xTQGvdDXQHP/cD8xPanAL+9UTcz+FwOBxjw63IdTgcjkmEM/oOh8MxiXBG3+FwOCYRzug7HA7HJMIZfYfD4ZhEOKPvcDg+1uTz0NYGDQ3yns+P7rzVEmgDGoL3kg0/1kxIyabD4XAY8nlob4euLmhshJYWSKXO3v3a22H9eshmYc8eUApaW4c7nwfagS6gEWgJPq8HssAeQAGt8dvFSOrnLH7ZCcAZfYfDMSZs475kiRzbskUM/IsvwsmTyUZ4ounqEoMO8t7ZGb1f/HxHByxa1M6tt66nqiqL1nsQwd8uxOATvHcSNfoTNVB8tDij73A4xoTtQe/aJcZ9aAg8D/xAdzfJCA/HaGcKjY0yuGSzkMlAU1P58+k0VFR0UVUlBl4pY+AbEcOdBTJArKNEAz/cQAHn22zAGX2HwwGM3tjaHnQuFx73fRkAtJYBIJWSvkca4hkuXBOnpUXadHaKwW9uLn++owM6Ohq56aY9XHRRlpMnM1RVNQHNiCHvRAy+6cgY7acoNvDDDRRw3s0GtNbn7etzn/ucdjgc54bWVq0zGa1B63Ra69paOZbLjax9RYX8nMloPXu21p4Xfm5rG/lz1NfLdeZVXz/+7xZ/7osvzunVq9v0tm31evPmNq11iS8pV2itMzpqnjJaa3Ndm9a63vqsg/fW4HhN7NoF1rnWYe49NoCXdAm76jx9h2OSYzz8p56Keu4HDojHXcrTtj3oO+6QY5s3h970/v1ybDQhHjMjMCEiO1wzkpnISNrIc6fo7GzF81qLZgbF2CEcEBX5B5CZQArx2uOx/0agF9lfKh28cshsIE1pz/8chIJKjQbnw8t5+g7H2cf22JNetbWlvX1DLif91NfLe0tL2Odwnr597aJFWk+dKtd5nnw297afs1SfI2kT3FUP722bNjVa67SOevjlaNVaezpqzmp1OBtYEDtnT2VarHultdarh7lXMpTx9D9yw17u5Yy+w3H2iYdTKivD0AxorVQ01BM38OazbWxXrxaDW18v7+UGDftapaLPsmBB6edMCvvE29TUyLGWFnmZZ87nW3UYsillyO02FVqMf5sePhxTr6OmzIv1X8qw57TW1bFra4a5VzLljL4L7zgck5x4dcuDD8LGjTAwIOe1joZ6tC5OtMbLIjdtgv7+5JBOPATT2Rleq2PbKqVSsqCqq0t+rqqSUtCkKp34d1EKDh6U72FXF+3dm+eb39zAtGnDVd3YYZ0hYHZCm8TfKPAycBJZ/9pAmBQ2qNg7SFjn/RLtJg5n9B2OSU5S9YtSoWE3mNi8+dm8P/kkzJ0rpZCmiufwYTHA+XxxbD1enTNvnhjxbDZa7gmwbx+89FI4IM2fL30mVemY76I1fP/7MDgYHreri/70T9u56KKj1lVpkqtu7MocBbwKrEYMf7k4ewvJVUBtyECyHxlECN47ga3ANsAe9RSwrMx9xoaTYXA4JjmplHjk3d1iMBcvFsP74INQUwMVFdLOeNeNjfKzYXAQenrEYBtyOejthW3b4LHHYM6cUAIhPivI5WDFCqivF6kE03cmI4OP3XbfPnnO1tbkEtBUSq754IPic+Z7LF3aRUXFkHXmGoo9cRDjPS/4WQODwOPAo7F2cfkGkIGhl3CAMGWb24AjhKa3AjiIGH1b9sEDFiKDzMTijL7D4QBCD3zbNnjiCTHi+/bBypVi/K+8Uoz2Qw+Jd24bXa3hzJnQsNoeu10J9Oij0UEjk4GlS8WI9/bKgGAGgBUr4N57wz4hnEEk6egYjZ2nnorOFgAWLpTvUV8PQ0ONaG1GrQywnGTPPUWx/o7xzCO/OUKDvp7iQYHgGjNtyiFVPSCDydFY2xRi7LtKPNc4KRXsPx9eLpHrcJw7SiVK40naRYtKV/tUV4dVOFVVxedrayU5u2iRvA+X5M3lJBlr91Gq/j+pCileART0qpNr65No0dFKnAodJmVNdU88+WpnmEu1sV/xc4vKPM/IoEwi13n6DocDKPbATaI0Ho7p64vG+m2mTQs99oceioaHKirEU9++HXbvDj38cit1UylYvjx8riSJB9vDt5+ruhpWr5ZnAVtpM0U+Hw+/lMNOpt5OGAoyHr6VPChaldsOfDfWxu4zA/wJsAip/18EPD/M84yTMsPPR/5ynr7Dce7I5ZLLLMt5+ul06HlXVEipZqk+4x57vOQyl5OyypoaebW0hCWipg/73sbTT/LwzTlTTlpTI886+hXC8fLL+jLnqnXxzCHeBq11Sos3b880RrJuYOTg6vQdDsdIidfhnz4dHQzsz6tXy6tcPf5IDW9LS7ROv6KiuM3p02L4q6vl/fTp4rBUdXX4nIsWRdccmFdDw0iNbKsuXc9f7pwO+lyki01bdcL97L6qdDgolHu20jij73A4yhJfFTvS1bQjwfbEKyrE+K9eHV0slRS7T5oNJK24LbUKt7U12eCD1hs3turhF2dpHcb/F2gxxEY3J6ejuYHVWuL/tqFu1WLAk4x+vG3Sgq7hnq005Yy+q9N3OByR2vl43PzJJ8VUjnUzFDsnMDQEs2dLWeX3vhdd4BVHqeIFWPH8wpNPwje+IeWlRvfH1O93dRVX8Rjmzk2SRG4mWfemFamyMXo5fYR6OebVBnyPYtnlkwl3fx9Yh1TxmLZLgF3BMQire0otHBs7LpHrcDgixtT3ozX3g4NSa//II2PrOylBnLSxSV1deI1SUmYZX4CVtEbAlJf29kYTw42NsoLX9GcGlkwGjh9vRJKoAFWIca8DHiO59DJpkGCY8/Y9bDShcbf7Slp9W0HywrGx44y+w+GIGNOqKqlyqawMz+dyIs1QjlJ70ba0RGvvm5uLB4J0Wip6QAz4woWh9IKN6au6OjxmrxS2WbVKVvBWV8szPfxw+AwNDS3ACqAemA/sBgaIGuNnCev0bQNuV+icARYDLxKtyLkD8davBGqQhVbm+rTVNh203UK4StdmBskLx8aOC+84HI5EKYa6ulB/B6IhmCQJ43Kbn2gdXrdmjYRi5s2TwSSdlvYng0iI75fedMWsHtaW/k8pHZ61a2UgkefJs2ZNO+3tdujGhGYaiEonG44i3n4rUWmFOxADXQscQwy/wcgu54EnCDdXuS+4rhPxtXcGfZhfqi35YMgA9+OklR0Oxznh4YfDRKjnad3cHJ5LSp6OZHFXRUW0gidpoVdVlRy3k7zDVRTZVUOmbXV12Gdra6vOZkdShaN01Awl7eDSqkOVzPhripZkb7kFW0lloEkJ4zY91tJNXCLX4XCMFOPFP/dc6KF7XjTOH4/JP/us/FxRIcnaUou7hqwIRtJCr+pqEW8LPfTSyp6trckqnvaMw7B0abgnbnFy1PbiU0io5iTFC63sbRMtBbcIZ4DtsWNxQbekLRaTNmM5O7iYvsPhiGCM5sGDodHP5cR4m5i9kTkGCc8cPSqhIK2htjaM3UM0fl9RIe1BBpHLLgv7qaoSg28PBCZeHx9kTAw/KY9gtwUZSIr1dpoIhdIWI8nVbiQh+xAS619BNJ6etALXUImEdnTCuWuAlYSibD4SAqoFrgieI67xc/YYs6evlKoBfgJcjXzTH2utn1ZKXQ78d+A64E3g32itjyulFPA08HvIELdMa71nfI/vcDgmmrjRBDHWqVQ0jm5kjg8ckBfI4FBbG/XA49sqdneLqJvvw9tvSz+5nAwyvb3RMkszY9A6qvlvZhFJeYT4/gAPPACLFyfJHZfasLyUxx3fNrESSbQuQwTS7P4K3yA4fyfh9ol7EPXOd4K2TxB6+ueAUnGf4V7ATODm4OdLgH8ErkeEJr4dHP828J3g598D/l/kN/t54IXh7uFi+g7HuSNp5ax5pdPJMgq5XHTV60gWcyXF/ltaosfslbVxKQY7hp/UV6m2CU+ih4/f27Tq4VfgJsXl46Jt6PIx//HD2Yjpa62PIMLQaK3fV0q9AcwCvoDMlwCeQ+ZMDwXHfxI80C6l1DSl1MygH4fD8RFje80VFVKyeSYoTMnl4MSJcLMT4223t8MLL4Te+fTpImFcjrgn3tQU5gQMSsE3vxnq+5sKoXgMP6kvU+Ez/Ebs8dh6Cgm/lNqQvNTmKIZScXkT0rGZBnwQHI/nDs4ypUaD0byQUM4BJKj1nnVcmc/A/wLqrXNdwC0JfX0ZeAl4qba2dkJHP4fDUZq411xbG/X40+mwqsZ40PFrPK+0p29mEknSyvFZRCql9cKFoTxzqRnEyL36xCfSWjdr8bptT9z24kcrhJbUvlVHq32U9dnTMisYn8BaHM6m9g5wMbIh5O8Hn9+LnT+uR2H07ZcL7zgc546kzc1ra4vDJ/Fr4vo2SeqZJmxUUZFsxFtawnNx3fxS/U4Mi3Sy+TE7srfqaEhntS4/CCRtep7TWteWuI8J9ST1NXbKGf1xVe8opSqA/xv4S631z4PDx5RSM4PzM4G3guOHkKVphmuDYw6H4zwgvnJ29Wq4775kjX2AfD6P76/h4ov3oJQftNGkUltoaGigra2NfD5fCBsNDIQlmyK9oGlra6OhoQFYw8qV/v/f3tnHxnVdB/5350OKxgrrqHUqyyIpMgl2EbRY07C9tjTUkBxSzWaD9p/+0ewGCWUB+ae79RZrMJGs4RuZtGRLsmJnURQNYkpAt2gW2y3awigaiUNSHErRhyUGTZo0iS2JH7LUxJFtyiFDzZs5+8f7mPeGj5zht0zeH/Bgvvvue+/eufK5551z7rm+lbaWyciKaolG79HSMjORTj6fd5/hvG9+DM9SPo5llunBn17hJHPvknWKYjinadcPYy3OClqRC1Y00MtYZiVny8VljOaZY/opp+ErrOidV0vKj+F35B61//7P+B25l8q9Q2v6Gs3KY5qmGIYh8XhcUqm0dHbmA80nhmFILBYTCEkk0iU1NTckkeiTTZs2CyCxWEzS6fQME1BxYVaffX+xrmGIRKPTdr0PBfoEBiUS6ZLOzkMz2lpsQ/EZ8yMhweLHMfdEpai5x2Smxl4jfq2/OuC6iD8j526Z6dj1vnNhmTW9sBzmHaxAVsHaIv779vF5rMDTDPAzLI/HFilOEn8GvA38gDKmHdFCX6NZFVKplESjUQEkGo3KwYMH3UnAMAwxbckfj8fFlgECSDweDyzzmo0iEctklE6L7Nq1e0Zdy77/bYFBgU6BkO96KUHvqxxTRJ4Xy7wSlqLQLRXIG8QS3k76ZMfcUzohpO3rUc9zqsWaEKalaBYqnRiCjsXZsuYS+ouJ3hkiOC0cWN8ppfUF+OOFvk+j0awMp06dImfbYXK5HN/85jcxTZPJyUmuXr2KUgrDMEgmk1y9epXJyUlisRitra2IiFsWCoUIh8McOJBHqbCb12f//jyHD3cxOnqdSCSCaZru/db2iGMcO/YnTHoWC8RiMVpaWkin02QyGZLJJKlUKrANleOsrp3EyrT5JJZZJYyVgM15/z2smPoQVsROGEufHcFK0gbFVb4D9vUe4B37+oue95gEL4/aYJd7V+kuDzoNg0ajmZNf//rX3LNjNycnJzlz5gyGYZBKpVBK0dvbS0tLC/l8nr6+Ph566CFGR0cpFApcunSJI0e6MQzDDaFMp7s4duwYk5OTRKNRqqur2bdvHwftJbzOc8+cOeNOCm1tbeTzeY4fP+6bfLxtaG1tdZ8RhOVf6HInDcPoRSlHsE8B14DrABQKL3Cv8BIfizjJ1LypG5wjTXExlldQC/A+ftu+dxWviRXo6JSFsVb/Rpg9HHQJqeA7Y9UObd7RaFaeVColkUhEAIlEIlJTU+MzoSQSiRn3eG3roVBoTpPLQk0yO3fu9N23c+fOwHqOT2LXrl2SSCRk586dkkgkZPv27W6/YrGY9PcnxB9KGRXHlm70G9J9NiIfTlvXps3iNc+bpGinT0sxPDMmc4s2Jwqo9N6lA51wTaPRVIphGITDYVd7Pn36NKNOngXANGcmG8tkMq45plAoEAqFKBQKgSaX5uZmLl68SC6XIxqN0tLSUlG7bt68Oee5Q1dX8UtiNiYnJzEMk7Nnt2EtMQIr1bGlzWeuZTg/bnIvD6318NNfbmXfY+UXY4l4vx5AZANKif3sKFbahn0UzURlV5AtOTrhmkaj8REOhzEMg2w2i2EYtLW1EbPjNmOxGG1tbTPuSSaTvjqNjY3E43E6OjoCTS6WMlr8bylBoZh37tzx1blz505guKZ3ApoNy0fQhj+UsmiiSdYn+VgkxguD8Lm/ijE+Ucxrny/kSQ+kaexpJD2QJl8ohleevRHhV7ZF6Ff3YODGU8DzWHEvz2OZjwyWPEf+fCjzHaLNOxrNGsYbnulE5pSWTU9P26GXcUmn0270jj+0MyWdnZ0z6gRRzrxjmqYkEgnXTOSEYiYSCd99tbW1geGaXlNT6RGNRqW6utrTxiATjYiZNyXdn5Z4T1zS/Wkx88X+GP2GxF6MCWkk9mJM0v1Fs8/unl3S2YcM3kA6+5DdJ3dJpZh5U4x+Q+Kvx8XoN3zvnC8s54rc5Ty00NdolpegOPdKY98XGiNf7j7DMGb4Baqrq2VyclISiYRUVVW5tvqgycM0TUmn01JdXe0+JxQKlQj7IvMVtvHX40Ia94j3FCetuSaEsr/LIu4tZS6hr807Gs06xmsKmZycpLe3N7Cs0nu9zLZaNpVK0dHRMav5J5PJUCj4V9/evn2bo0ePMjAwwJ07d2hqamJsbIyInZzf6ztwzFO1tbXucwqFArW1ta6/AopmmrrX6ngx+yJDY0McO3+M7sHuOU04yfokmyLWJgAhFSKswu711O4UHTs7iNfE6djZwcHdB33vCnqe2+9rGSZz9u+Zm6T3evDvvli0I1ejWceUi7WfK/a9XIy816Hqje93hLJhGOTzeQ4dOsSpU6cAaG9vp7m5mStXrjDlbJqLtV6gt7cXwzB8zw0K+ay4fYNdHDt/zBW0YAnbExdO0H+jn0s3LzFlTnH19lUUCqPJcrqmdqcYuDFAdjRLQQqcGztH3Wt1PNPwDKndKYwmw63rCPue4R5ufXgLs2D6npcv5Oka7CJzLUM4FCYWiTFpThKLxmitW55YfS30NZp1zGxx7pXEvpeLkS/9Eujp6aG3t9ddWAWWYB4cHHQdukeOHOHAgQN87Wtf4/XXX+f27dvkcjmf0O7t7XWfm8vlqKmpwQjIo1y2fR7N2svE9IQr0KGodTuCPByyNHvnulkwGZsY4+i5owzcGCBfyJOsT5LanZp1YnGe570eURFiG2JUx6rZ++he9ythqdFCX6NZx3i1bi9BZZXe6+DVtKPRKO+88w6jo6Ou1i8iZLNZXwSPaZpkMhkikQjvv/8+27ZtY/v27bS1tblC2zHpOIyPj9PY2EhzczMA/f397sQyZ/vqk1y9fZXJ3CTRUJSCFMiLZXYpSIGQClGQQqDW7b3XYcqccicLR5sPmli8z/NeN8VkYnoCs2BaZqPQ8kT4aKGv0WiWBa+mPTIywtiYlbLAa/8vtd1HIhHGx8cZGRkB4O7du+zYscMV3Pl8nrffftt3z+joKCMjI1y4cAGlFLlczmdOmrV9u1OICCe/f5IPpj/g7vRd91o0FGVn9U7ykqe1rnWG1p3anUKh6Bnu4Z0P33EFdenXQenEsnXzVvY17HOfl6xPcuXWFabMoimr9MtiqdGOXI1GsyAqSWvsaPH19fW+OP7W1lZfbL9SiqqqKg4cODAjHn94eNh9V11dnW9RlvPFANZXgpMzqNSxPFtbz46c5ebdm0xMTyCeTc23bt5K5ssZsnuzGE3GDK07HApjNBlce/YaBxsPEq+J01jTSCxi99HW5r2O3ecbn+et//4WeclT91odNd+owSyYPLHtCZQnjVlERQir8JxO38WgNX2NRrMgZnPUBl3ftGkTTz75JPl8PtB30NLSgojQ19fHli1buHu3qHU3NDTMusr24x//OLlcjqmpKSKRiKvplzpug9oqCfHZ7h1i0Rj7GvZVZF5xhL/jlO0e7Kb3eq/7deC9DpAeSPPS0EvkCtbk9PK5l9m2eZtvwhGEc2PnZjh9lwrltafdbzz++OPy5ptvrnYzNBqNjTdpmddkAxCPx8lms+55Y2MjQ0NDs173kk6nXaEci8V46KGHeO+992hoaOD06dMkk0nfs8D6YnjuuecIhUKcOXOGcDjM9evXUUrR3t5OZ2enG54Z1Bb2wtBYsUyh2F61nb2P7kUQ+q73EQlFMPMmrZ+ytPbF2tkbexp97wSorqrml1O/DHQqA8Rr4mT3Bv9us6GUuiIijwdd05q+RqOpGK/GHIlEiEajgZo1lA+ZLJ1AvJE+1dXV3LhxI/BZ0WiUrVu3umGa4XAYEeHo0aNMTU0RCoU4e/Zs2bZIvbj29JAK0VjTSObLGboGuzh+/rhPCA//2/C8NG5vKKYTyRMOhUnWJ7l486Kr6UdCEfY+upeQCnHieyeYuDfhe85yhG5qoa/RaCrGG4ZpmibV1dXU1tYGhkSWC5mczwQS9CxHi3fa5cT1FwoFstksL7zwAkopMpkMzc3NPPfcc/T19RXboiztvtQcExRxM1/n6qGzh1wzzsWbFxERDjUfcp3Hp75/CkGoe7COzLUMrZ9q5dmnnuWV771ihW+GImzbvI1nGp5Z8tBNbd7RaDQVk06nfRp1Y2MjmUzGJ4ArpdTkUjqBzPXM0tz4hUKBF1980RcNVFNTw7vvvutq9x0dHWXDUMGyu5fG1seiMTp2dlQk9POFPFte3uLT2muqahj505FZ3xOLxnju6ecIqdCMSWghaPOORqNZFI6Q7e3t5ZOf/CRjY2MUCgUuX75Md3d3RcK0lFKTy759+yp+Tqlj9vHHH2fz5s3cvXsXESEWiyEiPpPRmd4zSEJmmFxK8YVy/voDqjZWzUvj7hrs4u69u74yx1HrNfuMfDDiS7vw6oVX+d1P/i6tn1qcwC+HFvoajaYsXiHr5MqHYmjkQoT+fHa9KqV0te/Q0BCFQoFIJMK2bdt45plnyOfzvPLKK6756AdbfsClgUvkVG7OqJhwKIxSincn32XKnOLD3IecHTk7o96sbbuW8UXjAOx9dC/gT/0QDUVRKLfuxL0Jzo2fm7f/YL7oOH2NRlOWoE1SgAXsS1skHA5z8OBBkskkvb29dHV1Bcb6B+GN8fdOQqZpumkZDMOgo6OD6upqlFJM/OYEOWXH8ZdJaJa5lnEXTBWkQHY0S/dgd2Vtq0+68fohFSJRm6Az0ek+19Huc4UcG8IbZty/nMnWQGv6Go2mArymmNli7heC9wvi/PnzDAwMVOQj8H4lhMNhLl26xNTUVGC2zd7eXiu09DrwMLChfFRMsj7J+fHzbgx/QQoVO3Kd1bq913tp2dHiLsYCqHuwjk2RTUyZU8SiMZ7Y9gSX37k8w3+wXMnWQAt9jUZTAeWiZxZCPp+np6fH9wWRzWbp7u7m4MGDPkdtKpWa8T4nCGX37t0kEgn6+vrcDdobGxvd+9wJa3AS6iBcGyYSipAr5MgX8rPa9b2ZNGMRvyCeLSQT/Au20gNpXh56GbNgbTF5+8PbvvQO++P7OTJ0hDPXzlhrAgombfVty5ZsDbTQ12g0FVAuudpC6Orq4tatW76yQqHAiRMn6O/v5/LlyxWt9r169SodHR1ks1nS6TTHjx/33edMWK+//To3a2+SJ8/E9ARHzx0lGor60iB7BfnpL53myNARXzSN+36PbX4u/0DmWsYV+GCZdPKSdxdb5Qt5BEGhaNrRtCQLwMqhbfoajcalknw6S0UmkwncZH1iYoJsNjvnBi2zbeASVO7XSmV2AAAJZ0lEQVRuqtJUS4FiSGeukPPZzh1BPjQ2xOHsYT79vz6NIAx8ZWBG/p1KNzxJ1ieJhIq6dTQU9X0xeN/pbOCy3Gihr9FoXBwNemhoiGPHjtHdvXxCyOuMjUQibNy40b1WzllcuhG7c322cigvgEudrGMTY7MK4mR9kljUn1wtiNTuFAfiB6iuqqamqob98f2+L4aV2i3LizbvaDQalyBNeSlNOl5K/QTeEMtwOMwDDzzAgw8+SHt7e8WrfecKA/XG3ysU7Y+2+wRwUI782Vbiep21QamXHcKhMIeaD3Go+VDgde87l9uB6zLb5rn3w6E3RtdoVpaFbna+FHg3NI9GoyvehunctCROJmRD1wYJpUML2qDceUbV4SpJnEzIdG56zvpm3pR0f1riPXFJ96fLbspeKcyxMbpOw6DRaFzu3bvHnj17GB4edjNcbtgwM5bcS2lKhKBIm/kwn+ycS4k3LUJp7ptKnatNp5p8C7kStQkG2geWqcWzM1caBm3T12g0LocPH+by5ctMTExw+fJljhw5EljP6/BNJpMcPXp0yfwAc9nllxPf1oUFk5oHawI3UJmL4VvDvvML4xfmvRmKs5m63kRFo9EsO5Xa9JcjLYPDYtIzLIalsK83PNzg0/Tv5e8xNDY0r81QKg0HXSha09doNC6Vatnl0jIsJvTTCbHMZrMYhjEvU9Fi3uvd2rBjZ8ecC6QcbXxXzy52vLqDqsNVNJ1q4o0/eoNEbYKqjVVUbahy8+rMJzJnuSN6VlzTV0p9DngNCAPfFpGXVroNGo0mmEq17NIMmU888YQvLUO5rRQXgjfTZyQSwTRNWltbfT6Exby3dGvDufBq4w5nR87yhe98wbXhl6ZObqptoulUE1dvXWXLpi08svkR2j7dxoH4AQ4PHXYXhTXXNS9rRM+KOnKVUmHgp0AbMA5cBr4oIj8Kqq8duRrN/Uk+n6e7u3vWtAzxeJxz586557t27Zqx3aH3WYcOHeLUqVMAtLe3z9Dw8/k8yWSSbDbry5lfmid/pZzAQdseAlRtrOKDr39gtblkz9y+630Mjg766pfm31mqvPr3Uz79J4G3ROQagFLqO8AfAIFCX6PR3J+US8sQiUTmPPfS1dXFkSNH3NW5L730kvt8b51SgQ8zfQjltmhcKoJi+gEatja4f5d+OZz43okZz5nMTTJ8e9hnzum70Ud2b3bZUiuvtNB/BBjznI8D/9FbQSn1VeCrYO18o9FoPnqUplcISrfgUJqOIZfLzXAGZzKZGQIfZvodVsoJ7CzOOnPtDOMT49yZusNjDz/G6S+dnvWeUicvWJp+w9YGn6a/3Au07rvoHRH5FvAtsMw7q9wcjUazAFpbWxkeHnY17ra2tlnrJpNJLly44Ar+aDQamHbhypUrTE1NoZSipqaG7du309bW5hPsy5EYLoj52P8dTn/pNHv+956iTf/jj7DnU3vcTJvlVvcuFStt038aSIvI79nn+wFEJDAYWNv0NZqPJuVs/qV1X3jhBU6ePIlSivb2djo7O2fY9Ct9nmZum/5KC/0IliM3CdzEcuT+FxH5l6D6WuhrNBrN/LlvHLkiYiql/hvwXayQzZ7ZBL5Go9Folp4Vt+mLyD8C/7jS79VoNBqNXpGr0Wg06wot9DUajWYdoYW+RqPRrCO00NdoNJp1xH29iYpS6hfAyAJv/y3g3SVszkcB3ef1ge7z+mAxfa4VkYeCLtzXQn8xKKXenC1Oda2i+7w+0H1eHyxXn7V5R6PRaNYRWuhrNBrNOmItC/1vrXYDVgHd5/WB7vP6YFn6vGZt+hqNRqOZyVrW9DUajUZTghb6Go1Gs45Yk0JfKfU5pdRPlFJvKaW+vtrtWSqUUtVKqX6l1I+UUv+ilHrWLt+ilDqjlPqZ/d9P2OVKKfVN+3f4Z6XUY6vbg4WhlAorpYaVUm/Y53VKqYt2v/6PUmqDXb7RPn/Lvr5jNdu9UJRSDyql/kYp9a9KqR8rpZ5eB2P8p/a/6R8qpf5aKfWxtTjOSqkepdTPlVI/9JTNe2yVUl+x6/9MKfWV+bRhzQl9e/P1PwP+E/BZ4ItKqc+ubquWDBP4nyLyWeAp4I/tvn0dyIjIZ4CMfQ7Wb/AZ+/gq8Ocr3+Ql4Vngx57zl4FviMingfeAfXb5PuA9u/wbdr2PIq8B/yQi/x74D1h9X7NjrJR6BPgT4HER+R2stOt/xNoc51PA50rK5jW2SqktgIG11eyTgOFMFBUhImvqAJ4Gvus53w/sX+12LVNf/x5oA34CPGyXPQz8xP77L4Aveuq79T4qB7Dd/h+hBXgDUFirFCOl4421T8PT9t8Ru55a7T7Ms7+/AVwvbfcaH2Nn7+wt9ri9AfzeWh1nYAfww4WOLfBF4C885b565Y41p+kTvPn6I6vUlmXD/qRtAC4Cvy0it+xLt4Hftv9eC7/Fq0AH4OyK/ZvA+yLi7KTt7ZPbX/v6B3b9jxJ1wC+Ak7ZJ69tKqQdYw2MsIjeB48AocAtr3K6wtsfZy3zHdlFjvhaF/ppHKbUZ+H/A/xCRCe81sab+NRGHq5T6AvBzEbmy2m1ZQSLAY8Cfi0gD8CuKn/vA2hpjANs08QdYE9424AFmmkDWBSsxtmtR6N8Eqj3n2+2yNYFSKool8P9KRP7WLv43pdTD9vWHgZ/b5R/132IX8PtKqRvAd7BMPK8BD9r7LYO/T25/7eu/AfxyJRu8BIwD4yJy0T7/G6xJYK2OMUArcF1EfiEiOeBvscZ+LY+zl/mO7aLGfC0K/cvAZ2zP/wYsh9A/rHKblgSllAJeB34sIic8l/4BcDz4X8Gy9TvlX7ajAJ4CPvB8Rt73iMh+EdkuIjuwxrFPRP4r0A/8oV2ttL/O7/CHdv2PlEYsIreBMaXUv7OLksCPWKNjbDMKPKWUitn/xp0+r9lxLmG+Y/tdYI9S6hP2V9Ieu6wyVtupsUyOks8DPwXeBp5f7fYsYb/iWJ9+/wx83z4+j2XPzAA/A3qBLXZ9hRXJ9DbwA6zoiFXvxwL73gS8Yf9dD1wC3gL+L7DRLv+Yff6Wfb1+tdu9wL4+Crxpj/PfAZ9Y62MMHAL+Ffgh8JfAxrU4zsBfY/ktclhfdfsWMrbAM3b/3wL2zqcNOg2DRqPRrCPWonlHo9FoNLOghb5Go9GsI7TQ12g0mnWEFvoajUazjtBCX6PRaNYRWuhrNBrNOkILfY1Go1lH/H+/HMzZdEyKhgAAAABJRU5ErkJggg==">
            <a:extLst>
              <a:ext uri="{FF2B5EF4-FFF2-40B4-BE49-F238E27FC236}">
                <a16:creationId xmlns:a16="http://schemas.microsoft.com/office/drawing/2014/main" id="{16830FAC-2395-8642-532E-93085D149D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3" name="object 10">
            <a:extLst>
              <a:ext uri="{FF2B5EF4-FFF2-40B4-BE49-F238E27FC236}">
                <a16:creationId xmlns:a16="http://schemas.microsoft.com/office/drawing/2014/main" id="{094BD1B1-3CC6-B48C-ED5B-96BB473D4877}"/>
              </a:ext>
            </a:extLst>
          </p:cNvPr>
          <p:cNvSpPr/>
          <p:nvPr/>
        </p:nvSpPr>
        <p:spPr>
          <a:xfrm>
            <a:off x="-1" y="237033"/>
            <a:ext cx="6254886" cy="570865"/>
          </a:xfrm>
          <a:custGeom>
            <a:avLst/>
            <a:gdLst/>
            <a:ahLst/>
            <a:cxnLst/>
            <a:rect l="l" t="t" r="r" b="b"/>
            <a:pathLst>
              <a:path w="3143250" h="570865">
                <a:moveTo>
                  <a:pt x="3143250" y="0"/>
                </a:moveTo>
                <a:lnTo>
                  <a:pt x="0" y="0"/>
                </a:lnTo>
                <a:lnTo>
                  <a:pt x="0" y="570776"/>
                </a:lnTo>
                <a:lnTo>
                  <a:pt x="3143250" y="570776"/>
                </a:lnTo>
                <a:lnTo>
                  <a:pt x="3143250" y="0"/>
                </a:lnTo>
                <a:close/>
              </a:path>
            </a:pathLst>
          </a:custGeom>
          <a:solidFill>
            <a:srgbClr val="9BBB5C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Trebuchet MS" panose="020B0603020202020204" pitchFamily="34" charset="0"/>
              </a:rPr>
              <a:t>CLOs Assessment Mechanism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3C01A-F07A-74B0-4323-3D4E03B8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49103F-C1BC-A472-0DF5-7E565DCAA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035919"/>
              </p:ext>
            </p:extLst>
          </p:nvPr>
        </p:nvGraphicFramePr>
        <p:xfrm>
          <a:off x="907532" y="1409997"/>
          <a:ext cx="9384330" cy="3298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0238">
                  <a:extLst>
                    <a:ext uri="{9D8B030D-6E8A-4147-A177-3AD203B41FA5}">
                      <a16:colId xmlns:a16="http://schemas.microsoft.com/office/drawing/2014/main" val="1090467402"/>
                    </a:ext>
                  </a:extLst>
                </a:gridCol>
                <a:gridCol w="2094844">
                  <a:extLst>
                    <a:ext uri="{9D8B030D-6E8A-4147-A177-3AD203B41FA5}">
                      <a16:colId xmlns:a16="http://schemas.microsoft.com/office/drawing/2014/main" val="3542092806"/>
                    </a:ext>
                  </a:extLst>
                </a:gridCol>
                <a:gridCol w="2324624">
                  <a:extLst>
                    <a:ext uri="{9D8B030D-6E8A-4147-A177-3AD203B41FA5}">
                      <a16:colId xmlns:a16="http://schemas.microsoft.com/office/drawing/2014/main" val="1920781107"/>
                    </a:ext>
                  </a:extLst>
                </a:gridCol>
                <a:gridCol w="2324624">
                  <a:extLst>
                    <a:ext uri="{9D8B030D-6E8A-4147-A177-3AD203B41FA5}">
                      <a16:colId xmlns:a16="http://schemas.microsoft.com/office/drawing/2014/main" val="3079756242"/>
                    </a:ext>
                  </a:extLst>
                </a:gridCol>
              </a:tblGrid>
              <a:tr h="6596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Assessment tools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CLO_1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CLO_2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CLO_3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83416432"/>
                  </a:ext>
                </a:extLst>
              </a:tr>
              <a:tr h="6596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Quizzes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12837650"/>
                  </a:ext>
                </a:extLst>
              </a:tr>
              <a:tr h="6596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Assignment/Project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4931878"/>
                  </a:ext>
                </a:extLst>
              </a:tr>
              <a:tr h="6596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Midterm Exam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17658581"/>
                  </a:ext>
                </a:extLst>
              </a:tr>
              <a:tr h="6596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Exam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2000" spc="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62292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77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Pictures - We Need Fu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339688"/>
            <a:ext cx="10677525" cy="60165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F22DCF-EFD1-C304-ADBF-502F89C7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1665B-42F4-46D5-92B1-FFCDFEFBE01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loud compyuting">
  <a:themeElements>
    <a:clrScheme name="Custom 2">
      <a:dk1>
        <a:sysClr val="windowText" lastClr="000000"/>
      </a:dk1>
      <a:lt1>
        <a:sysClr val="window" lastClr="FFFFFF"/>
      </a:lt1>
      <a:dk2>
        <a:srgbClr val="D1162E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D7DB18DCBC304299E9F809C49A82E4" ma:contentTypeVersion="0" ma:contentTypeDescription="Create a new document." ma:contentTypeScope="" ma:versionID="7c9f82414008f16421db99d4afbf08a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8DD398-E2AB-4308-8CE3-011B9A69D560}"/>
</file>

<file path=customXml/itemProps2.xml><?xml version="1.0" encoding="utf-8"?>
<ds:datastoreItem xmlns:ds="http://schemas.openxmlformats.org/officeDocument/2006/customXml" ds:itemID="{94CB5A39-BE57-4B04-B618-308E3ED728AD}"/>
</file>

<file path=customXml/itemProps3.xml><?xml version="1.0" encoding="utf-8"?>
<ds:datastoreItem xmlns:ds="http://schemas.openxmlformats.org/officeDocument/2006/customXml" ds:itemID="{3BE59EB9-D949-41FB-88DF-B03B11551C84}"/>
</file>

<file path=docProps/app.xml><?xml version="1.0" encoding="utf-8"?>
<Properties xmlns="http://schemas.openxmlformats.org/officeDocument/2006/extended-properties" xmlns:vt="http://schemas.openxmlformats.org/officeDocument/2006/docPropsVTypes">
  <TotalTime>13075</TotalTime>
  <Words>354</Words>
  <Application>Microsoft Office PowerPoint</Application>
  <PresentationFormat>Widescreen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Tahoma</vt:lpstr>
      <vt:lpstr>Times New Roman</vt:lpstr>
      <vt:lpstr>Trebuchet MS</vt:lpstr>
      <vt:lpstr>Wingdings</vt:lpstr>
      <vt:lpstr>Office Theme</vt:lpstr>
      <vt:lpstr>1_cloud compyuting</vt:lpstr>
      <vt:lpstr>Wireless and Mobile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</dc:title>
  <dc:creator>MRMRMRMay</dc:creator>
  <cp:lastModifiedBy>Dr. Muhammad Fawad Khan, AP</cp:lastModifiedBy>
  <cp:revision>10052</cp:revision>
  <cp:lastPrinted>2021-06-08T07:06:00Z</cp:lastPrinted>
  <dcterms:created xsi:type="dcterms:W3CDTF">2020-06-09T06:19:00Z</dcterms:created>
  <dcterms:modified xsi:type="dcterms:W3CDTF">2026-01-21T06:03:05Z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  <property fmtid="{D5CDD505-2E9C-101B-9397-08002B2CF9AE}" pid="3" name="ContentTypeId">
    <vt:lpwstr>0x010100AED7DB18DCBC304299E9F809C49A82E4</vt:lpwstr>
  </property>
</Properties>
</file>